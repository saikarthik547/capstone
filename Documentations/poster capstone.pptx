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801600" cy="9601200" type="A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2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QixFpFIR6EEtpbjPJ3NfAejP5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6517B2-53E5-44A5-B0F4-53298D9B06D0}">
  <a:tblStyle styleId="{2D6517B2-53E5-44A5-B0F4-53298D9B06D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4660"/>
  </p:normalViewPr>
  <p:slideViewPr>
    <p:cSldViewPr snapToGrid="0">
      <p:cViewPr>
        <p:scale>
          <a:sx n="75" d="100"/>
          <a:sy n="75" d="100"/>
        </p:scale>
        <p:origin x="1018" y="-907"/>
      </p:cViewPr>
      <p:guideLst>
        <p:guide orient="horz" pos="302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414061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Calibri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sz="3359"/>
            </a:lvl1pPr>
            <a:lvl2pPr lvl="1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/>
            </a:lvl3pPr>
            <a:lvl4pPr lvl="3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4pPr>
            <a:lvl5pPr lvl="4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5pPr>
            <a:lvl6pPr lvl="5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8pPr>
            <a:lvl9pPr lvl="8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Calibri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sz="3359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 sz="252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80110" y="2555875"/>
            <a:ext cx="5440680" cy="609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6480810" y="2555875"/>
            <a:ext cx="5440680" cy="609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sz="3359" b="1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81779" y="3507105"/>
            <a:ext cx="5415676" cy="5158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480811" y="2353628"/>
            <a:ext cx="5442347" cy="115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sz="3359" b="1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480811" y="3507105"/>
            <a:ext cx="5442347" cy="5158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Font typeface="Calibri"/>
              <a:buNone/>
              <a:defRPr sz="448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442347" y="1382397"/>
            <a:ext cx="6480810" cy="682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30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480"/>
              <a:buChar char="•"/>
              <a:defRPr sz="4480"/>
            </a:lvl1pPr>
            <a:lvl2pPr marL="914400" lvl="1" indent="-477519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920"/>
              <a:buChar char="•"/>
              <a:defRPr sz="3920"/>
            </a:lvl2pPr>
            <a:lvl3pPr marL="1371600" lvl="2" indent="-44196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3pPr>
            <a:lvl4pPr marL="1828800" lvl="3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4pPr>
            <a:lvl5pPr marL="2286000" lvl="4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5pPr>
            <a:lvl6pPr marL="2743200" lvl="5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6pPr>
            <a:lvl7pPr marL="3200400" lvl="6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7pPr>
            <a:lvl8pPr marL="3657600" lvl="7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8pPr>
            <a:lvl9pPr marL="4114800" lvl="8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81778" y="2880360"/>
            <a:ext cx="4128849" cy="5336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  <a:defRPr sz="196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Font typeface="Calibri"/>
              <a:buNone/>
              <a:defRPr sz="448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442347" y="1382397"/>
            <a:ext cx="6480810" cy="68230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81778" y="2880360"/>
            <a:ext cx="4128849" cy="5336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  <a:defRPr sz="196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354864" y="81122"/>
            <a:ext cx="6091873" cy="1104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6473032" y="3199289"/>
            <a:ext cx="8136573" cy="276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872332" y="518954"/>
            <a:ext cx="8136573" cy="812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60"/>
              <a:buFont typeface="Calibri"/>
              <a:buNone/>
              <a:defRPr sz="6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77519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920"/>
              <a:buFont typeface="Arial"/>
              <a:buChar char="•"/>
              <a:defRPr sz="3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196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8619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8862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862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8862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8862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8862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6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6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6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6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6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6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6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6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.pn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637618" y="1343708"/>
            <a:ext cx="4067924" cy="7973937"/>
          </a:xfrm>
          <a:prstGeom prst="rect">
            <a:avLst/>
          </a:prstGeom>
          <a:noFill/>
          <a:ln w="9525" cap="flat" cmpd="sng">
            <a:solidFill>
              <a:srgbClr val="92A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35176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070C0"/>
                </a:solidFill>
                <a:latin typeface="+mj-lt"/>
                <a:ea typeface="Arial"/>
                <a:cs typeface="Arial"/>
                <a:sym typeface="Arial"/>
              </a:rPr>
              <a:t>RESULTS</a:t>
            </a:r>
            <a:endParaRPr sz="1200" b="1" cap="none" dirty="0">
              <a:solidFill>
                <a:srgbClr val="0070C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 cap="none" dirty="0">
              <a:solidFill>
                <a:srgbClr val="0070C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 cap="none" dirty="0">
              <a:solidFill>
                <a:srgbClr val="0070C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 cap="none" dirty="0">
              <a:solidFill>
                <a:srgbClr val="0070C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 cap="none" dirty="0">
              <a:solidFill>
                <a:srgbClr val="0070C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 cap="none" dirty="0">
              <a:solidFill>
                <a:srgbClr val="0070C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 cap="none" dirty="0">
              <a:solidFill>
                <a:srgbClr val="0070C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 cap="none" dirty="0">
              <a:solidFill>
                <a:srgbClr val="0070C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 cap="none" dirty="0">
              <a:solidFill>
                <a:srgbClr val="0070C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 cap="none" dirty="0">
              <a:solidFill>
                <a:srgbClr val="0070C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cap="none" dirty="0">
                <a:solidFill>
                  <a:srgbClr val="0070C0"/>
                </a:solidFill>
                <a:latin typeface="+mj-lt"/>
                <a:ea typeface="Arial"/>
                <a:cs typeface="Arial"/>
                <a:sym typeface="Arial"/>
              </a:rPr>
              <a:t>CONCLUSION</a:t>
            </a:r>
            <a:endParaRPr sz="1050" b="1" cap="none" dirty="0">
              <a:solidFill>
                <a:srgbClr val="0070C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NeuroX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successfully integrates </a:t>
            </a:r>
            <a:r>
              <a:rPr kumimoji="0" lang="en-I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tumor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stroke, and Alzheimer’s detection into a single MRI analysis framework</a:t>
            </a: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proposed system combines 3D CNN, transformer bottleneck, and task-specific decoders for multi-disease prediction</a:t>
            </a: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Accurate lesion segmentation was achieved for </a:t>
            </a:r>
            <a:r>
              <a:rPr kumimoji="0" lang="en-I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tumor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and stroke cases</a:t>
            </a: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Uncertainty estimation improved prediction reliability for clinical interpretation</a:t>
            </a: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3D visualization and automated reporting enhance practical usability</a:t>
            </a: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system demonstrates strong potential as an AI-assisted neuroimaging tool</a:t>
            </a: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0070C0"/>
                </a:solidFill>
                <a:latin typeface="+mj-lt"/>
              </a:rPr>
              <a:t>CONTACT DETAILS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50" b="1" dirty="0">
              <a:solidFill>
                <a:srgbClr val="0070C0"/>
              </a:solidFill>
              <a:latin typeface="+mj-lt"/>
            </a:endParaRPr>
          </a:p>
          <a:p>
            <a:r>
              <a:rPr lang="en-US" sz="1200" b="1" dirty="0">
                <a:solidFill>
                  <a:srgbClr val="0070C0"/>
                </a:solidFill>
                <a:latin typeface="+mj-lt"/>
              </a:rPr>
              <a:t>MAILID: saikarthik5421@gmail.com</a:t>
            </a:r>
            <a:br>
              <a:rPr lang="en-US" sz="1200" b="1" dirty="0">
                <a:solidFill>
                  <a:srgbClr val="0070C0"/>
                </a:solidFill>
                <a:latin typeface="+mj-lt"/>
              </a:rPr>
            </a:br>
            <a:r>
              <a:rPr lang="en-US" sz="1200" b="1" cap="none" dirty="0">
                <a:solidFill>
                  <a:srgbClr val="0070C0"/>
                </a:solidFill>
                <a:latin typeface="+mj-lt"/>
                <a:ea typeface="Arial"/>
                <a:cs typeface="Arial"/>
                <a:sym typeface="Arial"/>
              </a:rPr>
              <a:t>MOBILE NO:</a:t>
            </a:r>
            <a:r>
              <a:rPr lang="en-US" sz="1200" b="1" dirty="0">
                <a:solidFill>
                  <a:srgbClr val="0070C0"/>
                </a:solidFill>
                <a:latin typeface="+mj-lt"/>
              </a:rPr>
              <a:t> +91 96183 01254</a:t>
            </a:r>
            <a:endParaRPr lang="en-US" sz="1200" b="1" cap="none" dirty="0">
              <a:solidFill>
                <a:srgbClr val="0070C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50" b="1" cap="none" dirty="0">
              <a:solidFill>
                <a:srgbClr val="0070C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cap="none" dirty="0">
                <a:solidFill>
                  <a:srgbClr val="0070C0"/>
                </a:solidFill>
                <a:latin typeface="+mj-lt"/>
                <a:ea typeface="Arial"/>
                <a:cs typeface="Arial"/>
                <a:sym typeface="Arial"/>
              </a:rPr>
              <a:t>REFERENCES</a:t>
            </a:r>
            <a:endParaRPr lang="en-US" sz="1200" b="1" cap="none" dirty="0">
              <a:solidFill>
                <a:srgbClr val="0070C0"/>
              </a:solidFill>
              <a:latin typeface="+mj-lt"/>
              <a:cs typeface="Arial"/>
              <a:sym typeface="Arial"/>
            </a:endParaRPr>
          </a:p>
          <a:p>
            <a:pPr marL="171450" marR="144039" lvl="0" indent="-171450">
              <a:lnSpc>
                <a:spcPct val="111142"/>
              </a:lnSpc>
              <a:spcBef>
                <a:spcPts val="525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Menze, B. H., et al. (2015). The multimodal brain tumor image segmentation benchmark (BRATS). IEEE Transactions on Medical Imaging.</a:t>
            </a:r>
          </a:p>
          <a:p>
            <a:pPr marL="171450" marR="144039" lvl="0" indent="-171450">
              <a:lnSpc>
                <a:spcPct val="111142"/>
              </a:lnSpc>
              <a:spcBef>
                <a:spcPts val="525"/>
              </a:spcBef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Winzeck</a:t>
            </a: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S., et al. (2018). ISLES: Ischemic stroke lesion segmentation benchmark. Frontiers in Neurology.</a:t>
            </a:r>
          </a:p>
          <a:p>
            <a:pPr marL="171450" marR="144039" lvl="0" indent="-171450">
              <a:lnSpc>
                <a:spcPct val="111142"/>
              </a:lnSpc>
              <a:spcBef>
                <a:spcPts val="525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Jack, C. R., et al. (2008). Alzheimer’s Disease Neuroimaging Initiative (ADNI): MRI methods. Journal of Magnetic Resonance Imaging.</a:t>
            </a:r>
          </a:p>
        </p:txBody>
      </p:sp>
      <p:sp>
        <p:nvSpPr>
          <p:cNvPr id="85" name="Google Shape;85;p1"/>
          <p:cNvSpPr/>
          <p:nvPr/>
        </p:nvSpPr>
        <p:spPr>
          <a:xfrm>
            <a:off x="-2146" y="5470"/>
            <a:ext cx="12803746" cy="1273655"/>
          </a:xfrm>
          <a:custGeom>
            <a:avLst/>
            <a:gdLst/>
            <a:ahLst/>
            <a:cxnLst/>
            <a:rect l="l" t="t" r="r" b="b"/>
            <a:pathLst>
              <a:path w="20104100" h="2233930" extrusionOk="0">
                <a:moveTo>
                  <a:pt x="0" y="2233788"/>
                </a:moveTo>
                <a:lnTo>
                  <a:pt x="20104099" y="2233788"/>
                </a:lnTo>
                <a:lnTo>
                  <a:pt x="20104099" y="0"/>
                </a:lnTo>
                <a:lnTo>
                  <a:pt x="0" y="0"/>
                </a:lnTo>
                <a:lnTo>
                  <a:pt x="0" y="22337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40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628190" y="0"/>
            <a:ext cx="7905992" cy="33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50" rIns="0" bIns="0" anchor="b" anchorCtr="0">
            <a:spAutoFit/>
          </a:bodyPr>
          <a:lstStyle/>
          <a:p>
            <a:pPr marL="6065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Neurox</a:t>
            </a:r>
            <a:r>
              <a:rPr lang="fr-FR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3D </a:t>
            </a:r>
            <a:r>
              <a:rPr lang="fr-FR" sz="24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Neurological</a:t>
            </a:r>
            <a:r>
              <a:rPr lang="fr-FR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Brain Segmentation</a:t>
            </a:r>
            <a:endParaRPr lang="en-US" sz="28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7894" y="1341127"/>
            <a:ext cx="4221181" cy="8235932"/>
          </a:xfrm>
          <a:prstGeom prst="rect">
            <a:avLst/>
          </a:prstGeom>
          <a:noFill/>
          <a:ln w="9525" cap="flat" cmpd="sng">
            <a:solidFill>
              <a:srgbClr val="92A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35176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MOTIVATION / INTRODUCTION</a:t>
            </a:r>
            <a:endParaRPr b="1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171450" marR="144039" lvl="0" indent="-171450" algn="l" rtl="0">
              <a:lnSpc>
                <a:spcPct val="111142"/>
              </a:lnSpc>
              <a:spcBef>
                <a:spcPts val="52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MRI diagnosis systems usually focus on only one neurological disease at a time.</a:t>
            </a:r>
          </a:p>
          <a:p>
            <a:pPr marL="171450" marR="144039" lvl="0" indent="-171450" algn="l" rtl="0">
              <a:lnSpc>
                <a:spcPct val="111142"/>
              </a:lnSpc>
              <a:spcBef>
                <a:spcPts val="52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Doctors often need multiple separate tools for tumor, stroke, and Alzheimer analysis.</a:t>
            </a:r>
          </a:p>
          <a:p>
            <a:pPr marL="171450" marR="144039" lvl="0" indent="-171450" algn="l" rtl="0">
              <a:lnSpc>
                <a:spcPct val="111142"/>
              </a:lnSpc>
              <a:spcBef>
                <a:spcPts val="52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AI models do not provide confidence or uncertainty information for clinical decisions.</a:t>
            </a:r>
          </a:p>
          <a:p>
            <a:pPr marL="171450" marR="144039" lvl="0" indent="-171450" algn="l" rtl="0">
              <a:spcBef>
                <a:spcPts val="52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NeuroX was developed to create a single unified system for multi-disease detection, segmentation, and automated reporting.</a:t>
            </a:r>
            <a:endParaRPr lang="en-US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GOAL NUMBER: 3</a:t>
            </a:r>
            <a:endParaRPr lang="en-US" b="1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Goal 3 – United Nations Good Health and Well-Being</a:t>
            </a:r>
            <a:endParaRPr lang="en-US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r>
              <a:rPr lang="en-US" b="1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OBJECTIVES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Develop a unified AI-based system for analysing brain MRI scans.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Detect multiple neurological disorders including brain </a:t>
            </a:r>
            <a:r>
              <a:rPr kumimoji="0" lang="en-IN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tumor</a:t>
            </a:r>
            <a:r>
              <a:rPr kumimoji="0" lang="en-IN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stroke, and Alzheimer’s disease.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Apply MRI preprocessing techniques such as normalization and skull stripping for standardized input.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Extract deep volumetric features using 3D CNN and transformer-based architecture.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Perform accurate lesion segmentation for abnormal brain region localization.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Generate confidence-aware predictions and automated diagnostic reports.</a:t>
            </a:r>
            <a:endParaRPr lang="en-US" sz="1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b="1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SCOPE OF THE PROJECT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NeuroX is designed to analyze brain MRI scans for multiple neurological disorder detection within a single AI framework.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tumor segmentation, stroke lesion identification, and Alzheimer’s classification with confidence estimation.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extended for clinical deployment, additional brain diseases, and hospital workflow integration.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enables 3D visualization and automated report generation for easier clinical interpretation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308085" y="1344916"/>
            <a:ext cx="4296167" cy="8148344"/>
          </a:xfrm>
          <a:prstGeom prst="rect">
            <a:avLst/>
          </a:prstGeom>
          <a:noFill/>
          <a:ln w="9525" cap="flat" cmpd="sng">
            <a:solidFill>
              <a:srgbClr val="92A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35176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METHODOLOGY</a:t>
            </a:r>
            <a:endParaRPr lang="en-US" sz="1167" b="1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MRI Acquisition &amp; Preprocessing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Brain MRI scans are loaded, normalized, skull-stripped, and resized to 96×96×96 for uniform input.</a:t>
            </a:r>
          </a:p>
          <a:p>
            <a:pPr lvl="2" algn="just"/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Input Routing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Different MRI modalities are routed based on disease type (tumor, stroke, Alzheimer’s).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Feature Extraction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 3D CNN encoder extracts volumetric spatial features from MRI data.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Global Context Learning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 Transformer bottleneck captures long-range anatomical relationships.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Disease Detection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Separate prediction heads identify tumor, stroke, and Alzheimer’s presence.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Lesion Segmentation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U-Net decoder generates tumor and stroke lesion masks.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Uncertainty Estimation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Monte Carlo Dropout calculates prediction confidence.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3D Visualization &amp; Reporting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Lesions are converted into 3D mesh models and an automated clinical report is generated.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ARCHITECTURE</a:t>
            </a: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lang="en-US" sz="105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lang="en-US" sz="105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50" b="1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1050" b="1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1050" b="1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DCE623-C59B-CB01-A865-4C02AF02851B}"/>
              </a:ext>
            </a:extLst>
          </p:cNvPr>
          <p:cNvSpPr txBox="1"/>
          <p:nvPr/>
        </p:nvSpPr>
        <p:spPr>
          <a:xfrm>
            <a:off x="4452610" y="357699"/>
            <a:ext cx="310948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 Members: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Sandireddy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Manideep (22BCE1434)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Munta Sai Karthik (22BCE5060)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Gotam Sai Varshith (22BCE1605)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96" y="24141"/>
            <a:ext cx="4296428" cy="1244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5363" y="32965"/>
            <a:ext cx="2167003" cy="1227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AutoShape 6" descr="NeuroX AI architecture for brain MRI analysis">
            <a:extLst>
              <a:ext uri="{FF2B5EF4-FFF2-40B4-BE49-F238E27FC236}">
                <a16:creationId xmlns:a16="http://schemas.microsoft.com/office/drawing/2014/main" id="{623FFED7-3533-1479-A0B4-244B3CB5FA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53131" y="467234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289370-7EB4-DEAC-E405-65449B1C69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739" t="8918" r="4837" b="17994"/>
          <a:stretch>
            <a:fillRect/>
          </a:stretch>
        </p:blipFill>
        <p:spPr>
          <a:xfrm>
            <a:off x="4408125" y="5612570"/>
            <a:ext cx="4138467" cy="37508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F6E5589-9F1B-1EB8-C427-32DFA461FEEA}"/>
              </a:ext>
            </a:extLst>
          </p:cNvPr>
          <p:cNvSpPr txBox="1"/>
          <p:nvPr/>
        </p:nvSpPr>
        <p:spPr>
          <a:xfrm>
            <a:off x="7562095" y="384690"/>
            <a:ext cx="310948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Name: </a:t>
            </a: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Jayaram B</a:t>
            </a:r>
            <a:endParaRPr lang="en-IN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And Engineering</a:t>
            </a:r>
            <a:endParaRPr lang="en-IN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bg1"/>
              </a:buClr>
            </a:pPr>
            <a:endParaRPr lang="en-IN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B6B316-4836-F743-AD56-23CC2B884407}"/>
              </a:ext>
            </a:extLst>
          </p:cNvPr>
          <p:cNvSpPr/>
          <p:nvPr/>
        </p:nvSpPr>
        <p:spPr>
          <a:xfrm>
            <a:off x="7625671" y="6491616"/>
            <a:ext cx="313563" cy="112395"/>
          </a:xfrm>
          <a:prstGeom prst="rect">
            <a:avLst/>
          </a:prstGeom>
          <a:solidFill>
            <a:srgbClr val="ECF5F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A8E74A-2489-6932-0BE0-988F285FB4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728" y="1608232"/>
            <a:ext cx="1962567" cy="12502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31743E-5282-86E5-46C9-0C036FECA9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661" y="1608232"/>
            <a:ext cx="1871801" cy="12425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545</Words>
  <Application>Microsoft Office PowerPoint</Application>
  <PresentationFormat>A3 Paper (297x420 mm)</PresentationFormat>
  <Paragraphs>84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Arial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 varshith</dc:creator>
  <cp:lastModifiedBy>sai varhith</cp:lastModifiedBy>
  <cp:revision>37</cp:revision>
  <dcterms:created xsi:type="dcterms:W3CDTF">2019-03-04T22:30:53Z</dcterms:created>
  <dcterms:modified xsi:type="dcterms:W3CDTF">2026-04-05T17:57:59Z</dcterms:modified>
</cp:coreProperties>
</file>