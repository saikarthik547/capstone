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32"/>
  </p:notesMasterIdLst>
  <p:sldIdLst>
    <p:sldId id="256" r:id="rId2"/>
    <p:sldId id="257" r:id="rId3"/>
    <p:sldId id="259" r:id="rId4"/>
    <p:sldId id="260" r:id="rId5"/>
    <p:sldId id="261" r:id="rId6"/>
    <p:sldId id="262" r:id="rId7"/>
    <p:sldId id="264" r:id="rId8"/>
    <p:sldId id="265" r:id="rId9"/>
    <p:sldId id="266" r:id="rId10"/>
    <p:sldId id="267" r:id="rId11"/>
    <p:sldId id="268" r:id="rId12"/>
    <p:sldId id="269" r:id="rId13"/>
    <p:sldId id="272" r:id="rId14"/>
    <p:sldId id="271" r:id="rId15"/>
    <p:sldId id="273" r:id="rId16"/>
    <p:sldId id="274" r:id="rId17"/>
    <p:sldId id="275" r:id="rId18"/>
    <p:sldId id="276" r:id="rId19"/>
    <p:sldId id="277" r:id="rId20"/>
    <p:sldId id="278" r:id="rId21"/>
    <p:sldId id="288" r:id="rId22"/>
    <p:sldId id="289" r:id="rId23"/>
    <p:sldId id="290" r:id="rId24"/>
    <p:sldId id="286" r:id="rId25"/>
    <p:sldId id="279" r:id="rId26"/>
    <p:sldId id="280" r:id="rId27"/>
    <p:sldId id="281" r:id="rId28"/>
    <p:sldId id="282" r:id="rId29"/>
    <p:sldId id="283" r:id="rId30"/>
    <p:sldId id="287" r:id="rId31"/>
  </p:sldIdLst>
  <p:sldSz cx="12192000" cy="6858000"/>
  <p:notesSz cx="6858000" cy="9144000"/>
  <p:defaultTextStyle>
    <a:defPPr>
      <a:defRPr lang="en-US"/>
    </a:defPPr>
    <a:lvl1pPr marL="0" algn="l" defTabSz="4571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78" algn="l" defTabSz="4571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57" algn="l" defTabSz="4571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36" algn="l" defTabSz="4571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14" algn="l" defTabSz="4571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892" algn="l" defTabSz="4571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070" algn="l" defTabSz="4571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249" algn="l" defTabSz="4571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428" algn="l" defTabSz="4571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844" autoAdjust="0"/>
    <p:restoredTop sz="94660"/>
  </p:normalViewPr>
  <p:slideViewPr>
    <p:cSldViewPr snapToGrid="0">
      <p:cViewPr varScale="1">
        <p:scale>
          <a:sx n="78" d="100"/>
          <a:sy n="78" d="100"/>
        </p:scale>
        <p:origin x="1253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246AC8-8783-40AE-8C92-936AFD599119}" type="datetimeFigureOut">
              <a:rPr lang="en-IN" smtClean="0"/>
              <a:t>04-04-2026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793035-0299-498B-AF40-F298883036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15137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5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78" algn="l" defTabSz="91435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57" algn="l" defTabSz="91435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36" algn="l" defTabSz="91435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14" algn="l" defTabSz="91435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892" algn="l" defTabSz="91435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070" algn="l" defTabSz="91435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249" algn="l" defTabSz="91435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428" algn="l" defTabSz="91435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793035-0299-498B-AF40-F2988830368F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06148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2BE2ED-60DB-2EC0-ECC3-B438CFAE17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1D0561-034F-9096-A9AB-B22925446B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C33973-13C1-7E03-83BE-8BD2711FCE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04CBE9-3C02-94D3-1103-ADDD3DA95B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793035-0299-498B-AF40-F2988830368F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27993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41FB46-EFCE-1C36-27F0-41C0D2142A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1337D1-9430-7854-B132-0955EAE2DB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249F3F-EE61-B2E5-3A9B-41D2DB0A59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F3754A-7491-31D2-3749-FB5CFB9E59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793035-0299-498B-AF40-F2988830368F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32170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3D4218-D070-1A7B-5AF3-0DC8DAE7F2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BF51A7-5952-6267-B234-D7FEE44F79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65E9573-ED87-7739-2C90-7E87401B82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FCD2E1-1223-1D81-485E-44BDE4A4F5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793035-0299-498B-AF40-F2988830368F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2343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A753D0-9428-FA03-FBA8-ED38E55572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5D241D-6D4B-D99D-515A-B52C74B9F6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CF8021-99FB-AC6D-AF43-1D15715685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7E1499-E5E3-4A70-BA50-E658F5582A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793035-0299-498B-AF40-F2988830368F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48991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B44667-1D81-FE39-A8C3-C76EF6C47F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71056E-F7DB-3728-C141-B165D543E7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DA0865-D685-842C-0122-FF80109F23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3B3E63-6B8D-2087-0DF5-FBC22A7DF5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793035-0299-498B-AF40-F2988830368F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08493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80C927-C2BF-FBE7-0355-7892FA0AC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3FC4DC-2307-7539-A91B-BEB57B6367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2D27DB-0047-3BDD-4C2B-792FFD31AF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36A148-1972-FDBF-4D8C-5DA61C87F1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793035-0299-498B-AF40-F2988830368F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0064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FAAC98-585D-58A5-D208-BB60BE2224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B30DF7-DDBF-655C-0D89-C0CCCAD731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F6A902-2018-0643-7C9C-EEF62F8C11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AC5465-6333-8A9E-5818-4C17FC1EEC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793035-0299-498B-AF40-F2988830368F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903405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014AC1-7596-1855-9293-382B5B0BAD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E00727-A576-3FEC-FF4C-50604EBD0B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404246-B11F-CC6C-633B-127F779F5C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A9A8B2-96BC-5D37-477C-05B0E6B8F5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793035-0299-498B-AF40-F2988830368F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887733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B632FB-55A4-509C-700D-BDBF30BD9B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9A8F7F-3E77-18B0-21FB-83999F206A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8A1E15-6145-5122-ED56-10533E6A86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DB3469-096C-435D-761A-1C351902FE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793035-0299-498B-AF40-F2988830368F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302727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DD54CA-6D8D-4680-C5E7-BDC290EEC6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8BEF9C-5ED6-1AAA-20A1-171A7440C6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B22EE6-6299-3147-6990-E3C319572D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6E0D9F-A8C8-F2A6-F280-3FD688384F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793035-0299-498B-AF40-F2988830368F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167599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7E5684-B080-1505-9F9F-16ACBA1CA0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D01EF9-2C7B-1E2F-3525-B577AFD4A6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3323A9-A9B7-532E-77F9-05331447E0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FC97E9-4895-1DC6-1431-B7EDF790B0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793035-0299-498B-AF40-F2988830368F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553321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4D19C8-5D77-CA7B-699B-058772E6C4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102DA6-0524-EC76-8CC2-546B6931D8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4FAE4D-392D-61C5-5AE8-8B029B8AB2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C14183-42EC-D000-B5ED-34FA1CD369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793035-0299-498B-AF40-F2988830368F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29097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099042-E77F-347E-6965-E6401BD87B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47DA00-862A-CE57-E4EF-14AFD759F3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120BDC-C4F2-1286-9C42-8D03F5216A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6DBF11-07A9-60C2-4290-CE39E4717F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793035-0299-498B-AF40-F2988830368F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341265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14B1D7-C8B5-B65B-A733-E36E7F4059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B8F10A-4E5C-A73D-EC1C-F48EB5CF43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8153CA-BF35-2DC4-5057-D9E812AC65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8A353C-E4C6-2CCE-E32C-DA7490F0CB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793035-0299-498B-AF40-F2988830368F}" type="slidenum">
              <a:rPr lang="en-IN" smtClean="0"/>
              <a:t>19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813580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9BBFCB-5E15-AF4A-28D6-616006A86C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5EBEB7-1E13-58AA-184D-EC8D785A81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280B30-B885-F2A1-B2FC-24366C82B4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8BFFA2-3176-DA5A-D4D9-CF526376EC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793035-0299-498B-AF40-F2988830368F}" type="slidenum">
              <a:rPr lang="en-IN" smtClean="0"/>
              <a:t>20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77245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3FD977-0442-0B18-8B52-CF7185685D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FCF9B9-8781-2CBF-4E90-5C07880C1A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9FA9D8-79DF-A4C8-C370-694A2AB854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10796B-FB1A-2D7A-B75B-7B7E065BC1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793035-0299-498B-AF40-F2988830368F}" type="slidenum">
              <a:rPr lang="en-IN" smtClean="0"/>
              <a:t>21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037480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31893C-A92F-9417-2F87-5AF20E9F45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53D5C5-4DC9-DA10-4D33-9288708066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B1F179-773A-44F1-D03B-4CABFB6CD6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FD4B8F-CB1C-D8AB-EEF2-B63AC550E1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793035-0299-498B-AF40-F2988830368F}" type="slidenum">
              <a:rPr lang="en-IN" smtClean="0"/>
              <a:t>22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347220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9E0BA9-A103-C723-E4AA-7271F7AFD4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A856E0-3845-76E2-CFE0-C613909F43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33AF6D-E155-4F75-744E-39B66772B6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BF45C8-C6DA-D022-FF6A-D2F63881C4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793035-0299-498B-AF40-F2988830368F}" type="slidenum">
              <a:rPr lang="en-IN" smtClean="0"/>
              <a:t>23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320292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17E83D-5D16-B512-BDF0-75EA36C511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E320B1-D778-713D-8929-28E4734B9B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1E6617-38F6-E6F2-D7A1-66588D4F71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4C20F3-2581-639A-7B6A-4B2F96A1D3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793035-0299-498B-AF40-F2988830368F}" type="slidenum">
              <a:rPr lang="en-IN" smtClean="0"/>
              <a:t>24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88216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825925-13B3-B61E-BEB8-1B8AC73094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39429D-1F31-6249-076D-120E1B53FA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08CA24-A023-F732-6346-BFE82AEFC8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794278-7BDF-B1CA-EB37-5B200022CA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793035-0299-498B-AF40-F2988830368F}" type="slidenum">
              <a:rPr lang="en-IN" smtClean="0"/>
              <a:t>25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42384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1039E2-337C-4C84-94C3-18BE4D5709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2D45D8-1663-9D49-224C-4A5DFFA16A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D10835-0B0E-F931-8707-86E89B4CE4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554C7F-A0AD-E232-53B5-44D3757483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793035-0299-498B-AF40-F2988830368F}" type="slidenum">
              <a:rPr lang="en-IN" smtClean="0"/>
              <a:t>26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167016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7CF32B-E375-8C2A-EC8F-6DE6E9114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3F2AE3-DC59-CF42-6C95-5B6994EF10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20C1D5-FC30-7ABF-4C23-A13D91D2F7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D03FD1-CD91-8413-C81D-D4075E91EE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793035-0299-498B-AF40-F2988830368F}" type="slidenum">
              <a:rPr lang="en-IN" smtClean="0"/>
              <a:t>27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87594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C5B088-B108-7DFE-D035-0279660C13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225A17-74CF-8363-F6D3-55569A9F95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8EBFC8-6FB5-4015-9BF4-87F0ED1E71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F89804-3ED3-C5BD-99C8-E147E15A39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793035-0299-498B-AF40-F2988830368F}" type="slidenum">
              <a:rPr lang="en-IN" smtClean="0"/>
              <a:t>28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481440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0526C4-BA32-C62A-E1AC-704C42488D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E37E5A-99DA-0AB0-B1C6-1C45F169BE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0C5C80-3C3C-755F-9AF5-0E1D5C3392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7B7C7B-D684-66AE-AC56-3156A91AD1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793035-0299-498B-AF40-F2988830368F}" type="slidenum">
              <a:rPr lang="en-IN" smtClean="0"/>
              <a:t>29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79655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A9DD3313-3F00-48A9-ADF1-003297EA2CF4}" type="datetimeFigureOut">
              <a:rPr lang="en-IN" smtClean="0"/>
              <a:t>04-04-2026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6"/>
            <a:ext cx="6400800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7"/>
            <a:ext cx="2743200" cy="365125"/>
          </a:xfrm>
        </p:spPr>
        <p:txBody>
          <a:bodyPr/>
          <a:lstStyle/>
          <a:p>
            <a:fld id="{3DC8E423-F071-4B08-8F57-624971B012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91451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D3313-3F00-48A9-ADF1-003297EA2CF4}" type="datetimeFigureOut">
              <a:rPr lang="en-IN" smtClean="0"/>
              <a:t>04-04-2026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C8E423-F071-4B08-8F57-624971B012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50759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753534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6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A9DD3313-3F00-48A9-ADF1-003297EA2CF4}" type="datetimeFigureOut">
              <a:rPr lang="en-IN" smtClean="0"/>
              <a:t>04-04-2026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1" y="381002"/>
            <a:ext cx="6991492" cy="36406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3" y="381001"/>
            <a:ext cx="643748" cy="365125"/>
          </a:xfrm>
        </p:spPr>
        <p:txBody>
          <a:bodyPr/>
          <a:lstStyle/>
          <a:p>
            <a:fld id="{3DC8E423-F071-4B08-8F57-624971B012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58118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60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60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D3313-3F00-48A9-ADF1-003297EA2CF4}" type="datetimeFigureOut">
              <a:rPr lang="en-IN" smtClean="0"/>
              <a:t>04-04-2026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C8E423-F071-4B08-8F57-624971B012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83024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10" y="2183803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7"/>
            <a:ext cx="5311775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3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7"/>
            <a:ext cx="5334000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D3313-3F00-48A9-ADF1-003297EA2CF4}" type="datetimeFigureOut">
              <a:rPr lang="en-IN" smtClean="0"/>
              <a:t>04-04-2026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C8E423-F071-4B08-8F57-624971B012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57795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D3313-3F00-48A9-ADF1-003297EA2CF4}" type="datetimeFigureOut">
              <a:rPr lang="en-IN" smtClean="0"/>
              <a:t>04-04-2026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C8E423-F071-4B08-8F57-624971B012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879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D3313-3F00-48A9-ADF1-003297EA2CF4}" type="datetimeFigureOut">
              <a:rPr lang="en-IN" smtClean="0"/>
              <a:t>04-04-2026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C8E423-F071-4B08-8F57-624971B012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10554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60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200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D3313-3F00-48A9-ADF1-003297EA2CF4}" type="datetimeFigureOut">
              <a:rPr lang="en-IN" smtClean="0"/>
              <a:t>04-04-2026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C8E423-F071-4B08-8F57-624971B012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23582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200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D3313-3F00-48A9-ADF1-003297EA2CF4}" type="datetimeFigureOut">
              <a:rPr lang="en-IN" smtClean="0"/>
              <a:t>04-04-2026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C8E423-F071-4B08-8F57-624971B012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02195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1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40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6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D3313-3F00-48A9-ADF1-003297EA2CF4}" type="datetimeFigureOut">
              <a:rPr lang="en-IN" smtClean="0"/>
              <a:t>04-04-2026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C8E423-F071-4B08-8F57-624971B012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12154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4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A9DD3313-3F00-48A9-ADF1-003297EA2CF4}" type="datetimeFigureOut">
              <a:rPr lang="en-IN" smtClean="0"/>
              <a:t>04-04-2026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1" y="379942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3" y="381001"/>
            <a:ext cx="643748" cy="365125"/>
          </a:xfrm>
        </p:spPr>
        <p:txBody>
          <a:bodyPr/>
          <a:lstStyle/>
          <a:p>
            <a:fld id="{3DC8E423-F071-4B08-8F57-624971B012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45315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8" y="753534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8" y="3959863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A9DD3313-3F00-48A9-ADF1-003297EA2CF4}" type="datetimeFigureOut">
              <a:rPr lang="en-IN" smtClean="0"/>
              <a:t>04-04-2026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1" y="379942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3" y="381001"/>
            <a:ext cx="643748" cy="365125"/>
          </a:xfrm>
        </p:spPr>
        <p:txBody>
          <a:bodyPr/>
          <a:lstStyle/>
          <a:p>
            <a:fld id="{3DC8E423-F071-4B08-8F57-624971B012A6}" type="slidenum">
              <a:rPr lang="en-IN" smtClean="0"/>
              <a:t>‹#›</a:t>
            </a:fld>
            <a:endParaRPr lang="en-IN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643249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6" y="1124702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6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4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A9DD3313-3F00-48A9-ADF1-003297EA2CF4}" type="datetimeFigureOut">
              <a:rPr lang="en-IN" smtClean="0"/>
              <a:t>04-04-2026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1" y="378884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3" y="381001"/>
            <a:ext cx="643748" cy="365125"/>
          </a:xfrm>
        </p:spPr>
        <p:txBody>
          <a:bodyPr/>
          <a:lstStyle/>
          <a:p>
            <a:fld id="{3DC8E423-F071-4B08-8F57-624971B012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08942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D3313-3F00-48A9-ADF1-003297EA2CF4}" type="datetimeFigureOut">
              <a:rPr lang="en-IN" smtClean="0"/>
              <a:t>04-04-2026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C8E423-F071-4B08-8F57-624971B012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42951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9" y="4191001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9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9" y="4873765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4" y="4191001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5" y="4873764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1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2" y="4873762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D3313-3F00-48A9-ADF1-003297EA2CF4}" type="datetimeFigureOut">
              <a:rPr lang="en-IN" smtClean="0"/>
              <a:t>04-04-2026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C8E423-F071-4B08-8F57-624971B012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889119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60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D3313-3F00-48A9-ADF1-003297EA2CF4}" type="datetimeFigureOut">
              <a:rPr lang="en-IN" smtClean="0"/>
              <a:t>04-04-2026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C8E423-F071-4B08-8F57-624971B012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016044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7" y="745068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2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A9DD3313-3F00-48A9-ADF1-003297EA2CF4}" type="datetimeFigureOut">
              <a:rPr lang="en-IN" smtClean="0"/>
              <a:t>04-04-2026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1" y="381001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3" y="381001"/>
            <a:ext cx="643748" cy="365125"/>
          </a:xfrm>
        </p:spPr>
        <p:txBody>
          <a:bodyPr/>
          <a:lstStyle/>
          <a:p>
            <a:fld id="{3DC8E423-F071-4B08-8F57-624971B012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97105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1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1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DD3313-3F00-48A9-ADF1-003297EA2CF4}" type="datetimeFigureOut">
              <a:rPr lang="en-IN" smtClean="0"/>
              <a:t>04-04-2026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6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C8E423-F071-4B08-8F57-624971B012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89839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jpeg"/><Relationship Id="rId4" Type="http://schemas.openxmlformats.org/officeDocument/2006/relationships/image" Target="../media/image10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8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9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A9DFBB-66BA-9A40-7876-431B7C67B3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45743" y="247651"/>
            <a:ext cx="8499987" cy="2900516"/>
          </a:xfrm>
        </p:spPr>
        <p:txBody>
          <a:bodyPr>
            <a:noAutofit/>
          </a:bodyPr>
          <a:lstStyle/>
          <a:p>
            <a:r>
              <a:rPr lang="fr-FR" sz="4800" b="1" dirty="0">
                <a:solidFill>
                  <a:schemeClr val="accent1"/>
                </a:solidFill>
                <a:latin typeface="Algerian" panose="04020705040A02060702" pitchFamily="82" charset="0"/>
                <a:cs typeface="Times New Roman" panose="02020603050405020304" pitchFamily="18" charset="0"/>
              </a:rPr>
              <a:t>Neurox </a:t>
            </a:r>
            <a:br>
              <a:rPr lang="fr-FR" sz="4800" b="1" dirty="0">
                <a:latin typeface="Algerian" panose="04020705040A02060702" pitchFamily="82" charset="0"/>
                <a:cs typeface="Times New Roman" panose="02020603050405020304" pitchFamily="18" charset="0"/>
              </a:rPr>
            </a:br>
            <a:r>
              <a:rPr lang="fr-FR" sz="4800" b="1" dirty="0">
                <a:latin typeface="Algerian" panose="04020705040A02060702" pitchFamily="82" charset="0"/>
                <a:cs typeface="Times New Roman" panose="02020603050405020304" pitchFamily="18" charset="0"/>
              </a:rPr>
              <a:t>3D Neurological Brain Segmentation</a:t>
            </a:r>
            <a:endParaRPr lang="en-IN" sz="4800" b="1" dirty="0">
              <a:latin typeface="Algerian" panose="04020705040A02060702" pitchFamily="82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61D63D-0B2B-9254-AFBF-54580EC92D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577" y="1508434"/>
            <a:ext cx="4016477" cy="2331064"/>
          </a:xfrm>
        </p:spPr>
        <p:txBody>
          <a:bodyPr>
            <a:noAutofit/>
          </a:bodyPr>
          <a:lstStyle/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Members: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Sandireddy Manideep (22BCE1434)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Munta Sai Karthik (22BCE5060)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Gotam Sai Varshith (22BCE1605)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 Name: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Jayaram B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2667EDC9-09FE-EBF2-712E-983F5F3B4ED4}"/>
              </a:ext>
            </a:extLst>
          </p:cNvPr>
          <p:cNvSpPr txBox="1">
            <a:spLocks/>
          </p:cNvSpPr>
          <p:nvPr/>
        </p:nvSpPr>
        <p:spPr>
          <a:xfrm>
            <a:off x="83576" y="3687096"/>
            <a:ext cx="3062748" cy="7177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SCHOOL: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Academic Year: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2022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1CE2307B-FAE7-1617-2552-38F0BF733E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6732" y="2221681"/>
            <a:ext cx="5228304" cy="52283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630260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967C69-12AB-E579-B335-E62DC9E46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76568" y="441400"/>
            <a:ext cx="6029632" cy="395833"/>
          </a:xfrm>
        </p:spPr>
        <p:txBody>
          <a:bodyPr>
            <a:normAutofit fontScale="90000"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EF0C54-735F-6E96-4510-7F4AB641FD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97396" y="1087040"/>
            <a:ext cx="9566787" cy="107958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core problem addressed by this project is the lack of a unified, high-efficiency system for simultaneously analyzing multiple neurological conditions from a single MRI scan. Current clinical workflows face several challenges: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DB1D6F5-18D8-237C-97C9-BC040317711C}"/>
              </a:ext>
            </a:extLst>
          </p:cNvPr>
          <p:cNvSpPr/>
          <p:nvPr/>
        </p:nvSpPr>
        <p:spPr>
          <a:xfrm>
            <a:off x="127820" y="2015613"/>
            <a:ext cx="5889524" cy="2325326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Siloed Diagnostic Tools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Existing AI models are typically designed for a single task (e.g., only tumor segmentation), requiring clinicians to run multiple separate systems for a comprehensive patient assessment.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25CCC54-FAB7-9548-D446-77A99B53159E}"/>
              </a:ext>
            </a:extLst>
          </p:cNvPr>
          <p:cNvSpPr/>
          <p:nvPr/>
        </p:nvSpPr>
        <p:spPr>
          <a:xfrm>
            <a:off x="127819" y="4532672"/>
            <a:ext cx="5889524" cy="2325329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Clinical Uncertainty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existing AI assistants provide "black-box" predictions without quantifying diagnostic uncertainty, which is critical for medical professionals making treatment decisions.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918B36E-6A22-9E9C-11BD-08873933AE92}"/>
              </a:ext>
            </a:extLst>
          </p:cNvPr>
          <p:cNvSpPr/>
          <p:nvPr/>
        </p:nvSpPr>
        <p:spPr>
          <a:xfrm>
            <a:off x="6174659" y="2015613"/>
            <a:ext cx="5889523" cy="2325326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Inconsistent Data &amp; Quality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separate models can lead to inconsistent data quality and negative transfer, making it difficult to achieve a unified view of a patient's neurological health.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EEC185A-6F06-0B5B-F11A-AD46027D9DD0}"/>
              </a:ext>
            </a:extLst>
          </p:cNvPr>
          <p:cNvSpPr/>
          <p:nvPr/>
        </p:nvSpPr>
        <p:spPr>
          <a:xfrm>
            <a:off x="6174660" y="4532672"/>
            <a:ext cx="5889523" cy="2325327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Complex Coexistence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Critical conditions like brain tumors, strokes, and Alzheimer's disease can coexist, yet they are rarely analyzed together in a single, high-performance deep learning pipeline.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747972D8-29B5-8725-223A-01F25E73AE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83047" y="4023933"/>
            <a:ext cx="825909" cy="8259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>
            <a:extLst>
              <a:ext uri="{FF2B5EF4-FFF2-40B4-BE49-F238E27FC236}">
                <a16:creationId xmlns:a16="http://schemas.microsoft.com/office/drawing/2014/main" id="{C8F4DACB-68C0-910F-92BB-9209F38E23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6570" y="226361"/>
            <a:ext cx="825909" cy="8259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401702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6A69DE-77CE-47DE-15E2-8EECDFACFF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D4D796-19AB-2292-BB3D-C0D6B47B0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76568" y="441400"/>
            <a:ext cx="6029632" cy="395833"/>
          </a:xfrm>
        </p:spPr>
        <p:txBody>
          <a:bodyPr>
            <a:normAutofit fontScale="90000"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91EAA8-BEC4-EAA9-E953-4379C10989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97396" y="1087040"/>
            <a:ext cx="9566787" cy="107958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motivation for developing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NeuroX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stems from the need to provide a "clinically-viable AI diagnostic assistant" that can streamline complex neurological evaluations: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9D3577D2-D5D2-39F3-2C2A-DB03828010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5477" y="226361"/>
            <a:ext cx="825909" cy="8259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FF6E7481-7109-4DCA-02EC-18955B0C6EDE}"/>
              </a:ext>
            </a:extLst>
          </p:cNvPr>
          <p:cNvSpPr/>
          <p:nvPr/>
        </p:nvSpPr>
        <p:spPr>
          <a:xfrm>
            <a:off x="127820" y="2015613"/>
            <a:ext cx="5889524" cy="2325326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Unified Multi-Disease Diagnostics: 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was driven by the need to replace siloed tools with a single system capable of detecting Brain Tumors, Stroke, and Alzheimer's from one MRI scan, significantly reducing clinical analysis time.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FF67993A-F436-CB40-9771-0A9965176B97}"/>
              </a:ext>
            </a:extLst>
          </p:cNvPr>
          <p:cNvSpPr/>
          <p:nvPr/>
        </p:nvSpPr>
        <p:spPr>
          <a:xfrm>
            <a:off x="127819" y="4532672"/>
            <a:ext cx="5889524" cy="2325329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Clinical Trust via Uncertainty Quantification: 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bridge the gap between AI predictions and clinical decision-making, the system incorporates Monte Carlo Dropout and heteroscedastic uncertainty to flag complex cases for immediate expert review.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6F974D2D-D576-0A38-BB3C-B83343583C40}"/>
              </a:ext>
            </a:extLst>
          </p:cNvPr>
          <p:cNvSpPr/>
          <p:nvPr/>
        </p:nvSpPr>
        <p:spPr>
          <a:xfrm>
            <a:off x="6174659" y="2015613"/>
            <a:ext cx="5889523" cy="2325326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High-Fidelity Precision and Visualization: 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primary motivation was to assist medical professionals in accurately locating and quantifying pathologies through the generation of precise 3D brain visualizations and high-resolution 2D clinical heatmaps.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3B2794E7-BA60-8BC0-8A1A-5DA0F7A5E003}"/>
              </a:ext>
            </a:extLst>
          </p:cNvPr>
          <p:cNvSpPr/>
          <p:nvPr/>
        </p:nvSpPr>
        <p:spPr>
          <a:xfrm>
            <a:off x="6174660" y="4532672"/>
            <a:ext cx="5889523" cy="2325327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Scientific Rigor and Automated Reporting: 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ensures real-world utility by meeting publication-grade statistical standards through Nested Cross-Validation and simplifies physician workflows with an automated, AI-driven clinical reporting engine.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2" name="Picture 2">
            <a:extLst>
              <a:ext uri="{FF2B5EF4-FFF2-40B4-BE49-F238E27FC236}">
                <a16:creationId xmlns:a16="http://schemas.microsoft.com/office/drawing/2014/main" id="{DCBF4D8B-84FB-BC45-62B1-62EE7A0FB9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83047" y="4023933"/>
            <a:ext cx="825909" cy="8259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252629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4680D7-022C-CC9A-80E6-0959588F6B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44ED5A-4D2D-CB0E-24AB-D886A34B79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76568" y="441400"/>
            <a:ext cx="6029632" cy="395833"/>
          </a:xfrm>
        </p:spPr>
        <p:txBody>
          <a:bodyPr>
            <a:normAutofit fontScale="90000"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CA291D01-6F72-DE54-258A-782F2E9792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5477" y="226361"/>
            <a:ext cx="825909" cy="8259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BBCB6BA-9889-0F38-132F-20C53CB9F6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2" y="1663141"/>
            <a:ext cx="7140677" cy="4951378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unified AI-based system for analysing brain MRI scans.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 multiple neurological disorders including brain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tumor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stroke, and Alzheimer’s disease.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MRI preprocessing techniques such as normalization and skull stripping for standardized input.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 deep volumetric features using 3D CNN and transformer-based architecture.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 accurate lesion segmentation for abnormal brain region localization.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confidence-aware predictions and automated diagnostic reports.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D0181D3B-E48E-2B84-40C7-D07C99C20F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5475" y="1663141"/>
            <a:ext cx="4648200" cy="4648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028102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1B4740-8C96-0A56-7C0B-ABB4AF6FE7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50286-B56B-BA41-E9CB-2CC40B4CE3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76568" y="441400"/>
            <a:ext cx="6029632" cy="395833"/>
          </a:xfrm>
        </p:spPr>
        <p:txBody>
          <a:bodyPr>
            <a:normAutofit fontScale="90000"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48F1F903-FBC5-9341-ACC2-F690E49558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83047" y="226361"/>
            <a:ext cx="825909" cy="8259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A02C7460-991B-6C38-C70A-8F94501667E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89874454"/>
              </p:ext>
            </p:extLst>
          </p:nvPr>
        </p:nvGraphicFramePr>
        <p:xfrm>
          <a:off x="66367" y="1495835"/>
          <a:ext cx="11938820" cy="51358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84705">
                  <a:extLst>
                    <a:ext uri="{9D8B030D-6E8A-4147-A177-3AD203B41FA5}">
                      <a16:colId xmlns:a16="http://schemas.microsoft.com/office/drawing/2014/main" val="1656082514"/>
                    </a:ext>
                  </a:extLst>
                </a:gridCol>
                <a:gridCol w="2984705">
                  <a:extLst>
                    <a:ext uri="{9D8B030D-6E8A-4147-A177-3AD203B41FA5}">
                      <a16:colId xmlns:a16="http://schemas.microsoft.com/office/drawing/2014/main" val="626505581"/>
                    </a:ext>
                  </a:extLst>
                </a:gridCol>
                <a:gridCol w="2984705">
                  <a:extLst>
                    <a:ext uri="{9D8B030D-6E8A-4147-A177-3AD203B41FA5}">
                      <a16:colId xmlns:a16="http://schemas.microsoft.com/office/drawing/2014/main" val="1448890628"/>
                    </a:ext>
                  </a:extLst>
                </a:gridCol>
                <a:gridCol w="2984705">
                  <a:extLst>
                    <a:ext uri="{9D8B030D-6E8A-4147-A177-3AD203B41FA5}">
                      <a16:colId xmlns:a16="http://schemas.microsoft.com/office/drawing/2014/main" val="4086732422"/>
                    </a:ext>
                  </a:extLst>
                </a:gridCol>
              </a:tblGrid>
              <a:tr h="44263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Paper / Method</a:t>
                      </a:r>
                      <a:endParaRPr lang="en-IN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Techniques Used</a:t>
                      </a:r>
                      <a:endParaRPr lang="en-IN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Findings</a:t>
                      </a:r>
                      <a:endParaRPr lang="en-IN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</a:t>
                      </a:r>
                      <a:endParaRPr lang="en-IN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29943523"/>
                  </a:ext>
                </a:extLst>
              </a:tr>
              <a:tr h="141886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Attention U-Net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U-Net with attention gates for medical image segmentation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Improved lesion localization and segmentation accuracy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Focused only on segmentation, no classification support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08242628"/>
                  </a:ext>
                </a:extLst>
              </a:tr>
              <a:tr h="109143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Transformer-Based MRI Diagnosis</a:t>
                      </a:r>
                      <a:endParaRPr lang="en-IN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CNN + Transformer self-attention mechanism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Captures global spatial relationships effectively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computational complexity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2197905"/>
                  </a:ext>
                </a:extLst>
              </a:tr>
              <a:tr h="109143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3D CNN for Brain MRI Classification</a:t>
                      </a:r>
                      <a:endParaRPr 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Volumetric 3D convolution layers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Strong feature extraction from MRI volumes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interpretability and no reporting system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28855084"/>
                  </a:ext>
                </a:extLst>
              </a:tr>
              <a:tr h="109143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Automated Brain Tumor Segmentation Models</a:t>
                      </a:r>
                      <a:endParaRPr lang="en-IN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CNN-based segmentation methods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Accurate tumor boundary detection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Works only for tumor-specific diagnosis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143096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69887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600847-172E-7533-6DF1-54E0238078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6207C0-6FD4-940D-0F20-90C54C798C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76568" y="441400"/>
            <a:ext cx="6029632" cy="395833"/>
          </a:xfrm>
        </p:spPr>
        <p:txBody>
          <a:bodyPr>
            <a:normAutofit fontScale="90000"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2D419424-40A7-DB56-3B73-79E84CFCF7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83047" y="226361"/>
            <a:ext cx="825909" cy="8259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56311A00-F89B-51BA-F243-51CC694573E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37416302"/>
              </p:ext>
            </p:extLst>
          </p:nvPr>
        </p:nvGraphicFramePr>
        <p:xfrm>
          <a:off x="66367" y="1495835"/>
          <a:ext cx="11938820" cy="51358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84705">
                  <a:extLst>
                    <a:ext uri="{9D8B030D-6E8A-4147-A177-3AD203B41FA5}">
                      <a16:colId xmlns:a16="http://schemas.microsoft.com/office/drawing/2014/main" val="1656082514"/>
                    </a:ext>
                  </a:extLst>
                </a:gridCol>
                <a:gridCol w="2984705">
                  <a:extLst>
                    <a:ext uri="{9D8B030D-6E8A-4147-A177-3AD203B41FA5}">
                      <a16:colId xmlns:a16="http://schemas.microsoft.com/office/drawing/2014/main" val="626505581"/>
                    </a:ext>
                  </a:extLst>
                </a:gridCol>
                <a:gridCol w="2984705">
                  <a:extLst>
                    <a:ext uri="{9D8B030D-6E8A-4147-A177-3AD203B41FA5}">
                      <a16:colId xmlns:a16="http://schemas.microsoft.com/office/drawing/2014/main" val="1448890628"/>
                    </a:ext>
                  </a:extLst>
                </a:gridCol>
                <a:gridCol w="2984705">
                  <a:extLst>
                    <a:ext uri="{9D8B030D-6E8A-4147-A177-3AD203B41FA5}">
                      <a16:colId xmlns:a16="http://schemas.microsoft.com/office/drawing/2014/main" val="4086732422"/>
                    </a:ext>
                  </a:extLst>
                </a:gridCol>
              </a:tblGrid>
              <a:tr h="44263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Paper / Method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Techniques Used</a:t>
                      </a:r>
                      <a:endParaRPr lang="en-IN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Findings</a:t>
                      </a:r>
                      <a:endParaRPr lang="en-IN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</a:t>
                      </a:r>
                      <a:endParaRPr lang="en-IN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29943523"/>
                  </a:ext>
                </a:extLst>
              </a:tr>
              <a:tr h="141886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Deep Learning-Based Stroke Lesion Segmentation</a:t>
                      </a:r>
                      <a:endParaRPr 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CNN-based lesion segmentation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Improved stroke lesion detection in MRI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Sensitive to dataset imbalance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08242628"/>
                  </a:ext>
                </a:extLst>
              </a:tr>
              <a:tr h="109143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MRI-Based Alzheimer Detection Models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Deep CNN classification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Detects structural degeneration patterns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generalization across datasets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2197905"/>
                  </a:ext>
                </a:extLst>
              </a:tr>
              <a:tr h="109143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Hybrid CNN-Transformer Medical Models</a:t>
                      </a:r>
                      <a:endParaRPr lang="en-IN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CNN + Transformer hybrid architecture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Better local and global feature learning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Computationally intensive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28855084"/>
                  </a:ext>
                </a:extLst>
              </a:tr>
              <a:tr h="109143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Our Proposed System (NeuroX)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3D CNN + Transformer + Attention Decoder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Unified multi-disease MRI diagnosis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Requires larger clinical validation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143096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231951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212B1C-A346-D81E-42E9-9F286C119A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0AFEF2-3019-3581-7BFE-4EBDC362E9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76568" y="441400"/>
            <a:ext cx="6029632" cy="395833"/>
          </a:xfrm>
        </p:spPr>
        <p:txBody>
          <a:bodyPr>
            <a:normAutofit fontScale="90000"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Gap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E4229E2C-E1E0-2D73-5B5F-6B78DF6F26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38222" y="226361"/>
            <a:ext cx="825909" cy="8259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CBD456-9BCA-BF3B-66D3-894BE508AF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368" y="1506302"/>
            <a:ext cx="12125632" cy="5351698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10000"/>
              </a:lnSpc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 in Existing Systems</a:t>
            </a:r>
          </a:p>
          <a:p>
            <a:pPr lvl="1">
              <a:lnSpc>
                <a:spcPct val="11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existing systems focus on single neurological disease detection only.</a:t>
            </a:r>
          </a:p>
          <a:p>
            <a:pPr lvl="1">
              <a:lnSpc>
                <a:spcPct val="11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and segmentation are usually developed as separate modules.</a:t>
            </a:r>
          </a:p>
          <a:p>
            <a:pPr lvl="1">
              <a:lnSpc>
                <a:spcPct val="11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models often lack confidence estimation for prediction reliability.</a:t>
            </a:r>
          </a:p>
          <a:p>
            <a:pPr lvl="1">
              <a:lnSpc>
                <a:spcPct val="11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clinical report generation is rarely integrated.</a:t>
            </a:r>
          </a:p>
          <a:p>
            <a:pPr lvl="1">
              <a:lnSpc>
                <a:spcPct val="11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systems are difficult to generalize across MRI datasets from different sources.</a:t>
            </a:r>
          </a:p>
          <a:p>
            <a:pPr>
              <a:lnSpc>
                <a:spcPct val="110000"/>
              </a:lnSpc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Gap</a:t>
            </a:r>
          </a:p>
          <a:p>
            <a:pPr lvl="1">
              <a:lnSpc>
                <a:spcPct val="11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use of unified architectures combining 3D CNN and transformer learning.</a:t>
            </a:r>
          </a:p>
          <a:p>
            <a:pPr lvl="1">
              <a:lnSpc>
                <a:spcPct val="11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practical frameworks supporting tumor, stroke, and Alzheimer detection together.</a:t>
            </a:r>
          </a:p>
          <a:p>
            <a:pPr>
              <a:lnSpc>
                <a:spcPct val="110000"/>
              </a:lnSpc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Gap Addressed by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NeuroX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20000"/>
              </a:lnSpc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NeuroX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proposes a unified pipeline integrating multi-disease detection, segmentation, confidence estimation, visualization, and report generation.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78943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C36814-BC31-A1D6-51C8-C9844D1D05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02F7E-11FA-C150-E0AB-EB5ACCE819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76568" y="441400"/>
            <a:ext cx="6029632" cy="395833"/>
          </a:xfrm>
        </p:spPr>
        <p:txBody>
          <a:bodyPr>
            <a:normAutofit fontScale="90000"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D2EC9FD2-2A84-1671-4622-9FD4270B7B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3318" y="226361"/>
            <a:ext cx="825909" cy="8259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864912-CE44-3203-53BE-F90B735ABC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368" y="1506302"/>
            <a:ext cx="4338484" cy="5351698"/>
          </a:xfrm>
        </p:spPr>
        <p:txBody>
          <a:bodyPr>
            <a:norm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Overview of the Solution</a:t>
            </a:r>
          </a:p>
          <a:p>
            <a:pPr lvl="1">
              <a:lnSpc>
                <a:spcPct val="10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NeuroX is a unified AI-based medical imaging framework designed to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brain MRI scans for detecting multiple neurological disorders within a single diagnostic pipeline.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performs: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Brain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tumor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detection 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Stroke lesion detection 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Alzheimer pattern identification 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Lesion segmentation 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Confidence-aware prediction 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report generation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20E2133-9963-E8A9-800D-E805211B6CA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5858" y="1827746"/>
            <a:ext cx="7680926" cy="4189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43757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576FE4-2159-C751-DE24-49DF10DFAA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8DBABC-7171-B37A-41F2-E26B4FBB1D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76568" y="441400"/>
            <a:ext cx="6029632" cy="395833"/>
          </a:xfrm>
        </p:spPr>
        <p:txBody>
          <a:bodyPr>
            <a:normAutofit fontScale="90000"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A1EAAA3D-108B-DD0A-4314-B42E35FD0E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3318" y="226361"/>
            <a:ext cx="825909" cy="8259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10EFCC-3FD0-4DD4-8AB9-D8C9E49CC8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368" y="1506302"/>
            <a:ext cx="12125632" cy="5351698"/>
          </a:xfrm>
        </p:spPr>
        <p:txBody>
          <a:bodyPr>
            <a:norm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Innovation / Novelty</a:t>
            </a:r>
          </a:p>
          <a:p>
            <a:pPr lvl="1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Unified diagnosis for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tumor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stroke, and Alzheimer’s disease</a:t>
            </a:r>
          </a:p>
          <a:p>
            <a:pPr lvl="1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Hybrid 3D CNN + Transformer architecture</a:t>
            </a:r>
          </a:p>
          <a:p>
            <a:pPr lvl="1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Attention-guided decoder for segmentation</a:t>
            </a:r>
          </a:p>
          <a:p>
            <a:pPr lvl="1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Confidence estimation using uncertainty analysis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Engineering Contribution</a:t>
            </a:r>
          </a:p>
          <a:p>
            <a:pPr lvl="1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Modular medical inference pipeline</a:t>
            </a:r>
          </a:p>
          <a:p>
            <a:pPr lvl="1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PDF reporting system</a:t>
            </a:r>
          </a:p>
          <a:p>
            <a:pPr lvl="1"/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-based clinical interface</a:t>
            </a:r>
          </a:p>
          <a:p>
            <a:pPr lvl="1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Integrated 3D lesion visualization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Contribution</a:t>
            </a:r>
          </a:p>
          <a:p>
            <a:pPr lvl="1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NeuroX combines multiple medical AI tasks into one deployable framework.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8BBF04AB-ECD0-36BC-7C54-391B23D6289B}"/>
              </a:ext>
            </a:extLst>
          </p:cNvPr>
          <p:cNvSpPr txBox="1">
            <a:spLocks/>
          </p:cNvSpPr>
          <p:nvPr/>
        </p:nvSpPr>
        <p:spPr>
          <a:xfrm>
            <a:off x="4159047" y="871476"/>
            <a:ext cx="7347155" cy="3958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Innovation and Engineering Contribution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C78B8734-E047-9C79-D0B2-ED2547DF3E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5994" y="2262115"/>
            <a:ext cx="5769978" cy="32439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6262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8CDFEF-29BC-35AE-0024-810A46DC57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ECB97-6E9F-EECF-AD93-C9CB2AA137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76568" y="441400"/>
            <a:ext cx="6029632" cy="395833"/>
          </a:xfrm>
        </p:spPr>
        <p:txBody>
          <a:bodyPr>
            <a:normAutofit fontScale="90000"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F00CDDFC-4B0D-9104-70A0-C5504A32D8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4287" y="204155"/>
            <a:ext cx="825909" cy="8259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E0F9A73B-1819-AF95-F4DD-4FEF235818BC}"/>
              </a:ext>
            </a:extLst>
          </p:cNvPr>
          <p:cNvSpPr txBox="1">
            <a:spLocks/>
          </p:cNvSpPr>
          <p:nvPr/>
        </p:nvSpPr>
        <p:spPr>
          <a:xfrm>
            <a:off x="5476568" y="928563"/>
            <a:ext cx="6029632" cy="3958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67500" lnSpcReduction="20000"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 Diagram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A3A1A93-DCB9-AF56-CCC4-468A2FD2C91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2179"/>
          <a:stretch>
            <a:fillRect/>
          </a:stretch>
        </p:blipFill>
        <p:spPr>
          <a:xfrm>
            <a:off x="0" y="1415725"/>
            <a:ext cx="12192000" cy="5442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0748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60F782-529A-1B75-7E06-266BF12331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579395-A694-1390-D7FB-0CF8285A2D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76568" y="441400"/>
            <a:ext cx="6029632" cy="395833"/>
          </a:xfrm>
        </p:spPr>
        <p:txBody>
          <a:bodyPr>
            <a:normAutofit fontScale="90000"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262D17FD-EB9A-43AA-716C-0F29BC9754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4287" y="204155"/>
            <a:ext cx="825909" cy="8259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0399274C-05DD-1098-F3FA-2C01BA218D3D}"/>
              </a:ext>
            </a:extLst>
          </p:cNvPr>
          <p:cNvSpPr txBox="1">
            <a:spLocks/>
          </p:cNvSpPr>
          <p:nvPr/>
        </p:nvSpPr>
        <p:spPr>
          <a:xfrm>
            <a:off x="5476568" y="928563"/>
            <a:ext cx="6029632" cy="3958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67500" lnSpcReduction="20000"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DIAGRAM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BD3D8E5-74F1-8315-4044-3265F92458F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15726"/>
            <a:ext cx="12192000" cy="6221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03911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19ED04-5BF6-85FB-046A-3A1A475FD2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B76B14-C30F-F8D6-DA74-A744D79C86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2441" y="2252957"/>
            <a:ext cx="4295172" cy="395833"/>
          </a:xfrm>
        </p:spPr>
        <p:txBody>
          <a:bodyPr>
            <a:normAutofit fontScale="90000"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1133CE9F-DA85-DAE8-6639-82184239C5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32197" y="1732013"/>
            <a:ext cx="825909" cy="8259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6B07AE1B-AD05-34B8-3702-2AFB613AFD20}"/>
              </a:ext>
            </a:extLst>
          </p:cNvPr>
          <p:cNvSpPr txBox="1">
            <a:spLocks/>
          </p:cNvSpPr>
          <p:nvPr/>
        </p:nvSpPr>
        <p:spPr>
          <a:xfrm>
            <a:off x="6162368" y="4357562"/>
            <a:ext cx="6029632" cy="3958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67500" lnSpcReduction="20000"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Flow Diagram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FDDA790-A18A-5855-0F0F-837EA9FECB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" y="0"/>
            <a:ext cx="79060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61073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9944BD-C603-915E-B212-9D0CDC7676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964EA-F4E4-F174-C5DC-FB65E0A407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76568" y="441400"/>
            <a:ext cx="6029632" cy="395833"/>
          </a:xfrm>
        </p:spPr>
        <p:txBody>
          <a:bodyPr>
            <a:normAutofit fontScale="90000"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72C21248-70F3-1EE1-96E5-433ECE5801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0960" y="226361"/>
            <a:ext cx="825909" cy="8259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EC2364E3-2847-1979-B738-7753EED4F86A}"/>
              </a:ext>
            </a:extLst>
          </p:cNvPr>
          <p:cNvSpPr txBox="1">
            <a:spLocks/>
          </p:cNvSpPr>
          <p:nvPr/>
        </p:nvSpPr>
        <p:spPr>
          <a:xfrm>
            <a:off x="5476568" y="928563"/>
            <a:ext cx="6029632" cy="3958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67500" lnSpcReduction="20000"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AF2E4D-F46C-47AC-0F92-CDA719274965}"/>
              </a:ext>
            </a:extLst>
          </p:cNvPr>
          <p:cNvSpPr txBox="1"/>
          <p:nvPr/>
        </p:nvSpPr>
        <p:spPr>
          <a:xfrm>
            <a:off x="234388" y="1549717"/>
            <a:ext cx="11791708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Preprocessing &amp; Input Routing</a:t>
            </a:r>
          </a:p>
          <a:p>
            <a:pPr lvl="1"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algorithm begins by standardizing the input MRI to ensure consistency across different scanners: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Normalization: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Voxel intensities are normalized using Z-score techniques and clipped to remove outliers.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Spatial Alignment: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3D volume is resampled to a uniform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96×96×96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Region of Interest (ROI).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Channel Packing: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tumor and stroke tasks, the system uses a dual-channel input (typically T1ce and FLAIR sequences) to provide the model with better contrast for focal lesions.</a:t>
            </a:r>
          </a:p>
        </p:txBody>
      </p:sp>
    </p:spTree>
    <p:extLst>
      <p:ext uri="{BB962C8B-B14F-4D97-AF65-F5344CB8AC3E}">
        <p14:creationId xmlns:p14="http://schemas.microsoft.com/office/powerpoint/2010/main" val="8876125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4B1A02-7491-801A-755D-9FFBA198B9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3B4A08-86DB-FE60-E580-E458E15016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76568" y="441400"/>
            <a:ext cx="6029632" cy="395833"/>
          </a:xfrm>
        </p:spPr>
        <p:txBody>
          <a:bodyPr>
            <a:normAutofit fontScale="90000"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98D2F7EB-D40E-0521-7BAF-C014CD32AA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0960" y="226361"/>
            <a:ext cx="825909" cy="8259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59895818-0E84-07F7-C7ED-D93E9672E94A}"/>
              </a:ext>
            </a:extLst>
          </p:cNvPr>
          <p:cNvSpPr txBox="1">
            <a:spLocks/>
          </p:cNvSpPr>
          <p:nvPr/>
        </p:nvSpPr>
        <p:spPr>
          <a:xfrm>
            <a:off x="5476568" y="928563"/>
            <a:ext cx="6029632" cy="3958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67500" lnSpcReduction="20000"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02E9E8-6A79-17D6-7F36-33548C0C7C33}"/>
              </a:ext>
            </a:extLst>
          </p:cNvPr>
          <p:cNvSpPr txBox="1"/>
          <p:nvPr/>
        </p:nvSpPr>
        <p:spPr>
          <a:xfrm>
            <a:off x="234388" y="1549717"/>
            <a:ext cx="11791708" cy="5170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The Core Architecture (NeuroX-v3)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utilizes an asymmetric dual-path engine to process different types of brain pathologies:</a:t>
            </a:r>
          </a:p>
          <a:p>
            <a:pPr lvl="1"/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Path A: Shared Clinical Backbone (Tumor &amp; Stroke)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Encoder: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3D Convolutional Neural Network (CNN) with Instance Normalization extracts spatial features.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Transformer Bottleneck: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Latent Transformer models global spatial dependencies, helping the model understand the anatomical context of detected lesions.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Segmentation Decoders: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Attention-Gated U-Net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structure is used to generate the 3D masks. Attention gates suppress irrelevant features, focusing the model on the precise boundaries of the tumor or stroke.</a:t>
            </a:r>
          </a:p>
          <a:p>
            <a:pPr lvl="1"/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Path B: Independent Alzheimer’s Path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Dedicated Encoder: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Alzheimer's detection uses a separate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3D Residual CNN (ResBlock3D)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Squeeze-and-Excitation (SE) blocks.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Global Analysis: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Unlike the focal lesion path, this branch analyzes diffuse patterns of cortical atrophy to classify the presence of Alzheimer's.</a:t>
            </a:r>
          </a:p>
        </p:txBody>
      </p:sp>
    </p:spTree>
    <p:extLst>
      <p:ext uri="{BB962C8B-B14F-4D97-AF65-F5344CB8AC3E}">
        <p14:creationId xmlns:p14="http://schemas.microsoft.com/office/powerpoint/2010/main" val="7424601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8575C9-957D-688B-9A25-8B4D97A158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D7433-81DA-903B-BAE9-53440857E2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76568" y="441400"/>
            <a:ext cx="6029632" cy="395833"/>
          </a:xfrm>
        </p:spPr>
        <p:txBody>
          <a:bodyPr>
            <a:normAutofit fontScale="90000"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A75EB2B7-DF8F-2400-1FAC-34B1A6A5D0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0960" y="226361"/>
            <a:ext cx="825909" cy="8259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0DE63FC4-501E-4339-0F7B-35990396E6A2}"/>
              </a:ext>
            </a:extLst>
          </p:cNvPr>
          <p:cNvSpPr txBox="1">
            <a:spLocks/>
          </p:cNvSpPr>
          <p:nvPr/>
        </p:nvSpPr>
        <p:spPr>
          <a:xfrm>
            <a:off x="5476568" y="928563"/>
            <a:ext cx="6029632" cy="3958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67500" lnSpcReduction="20000"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202A1F4-EE9C-199E-07C2-464D7EA9FF13}"/>
              </a:ext>
            </a:extLst>
          </p:cNvPr>
          <p:cNvSpPr txBox="1"/>
          <p:nvPr/>
        </p:nvSpPr>
        <p:spPr>
          <a:xfrm>
            <a:off x="234388" y="1549719"/>
            <a:ext cx="11791708" cy="38779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Detection &amp; Uncertainty Algorithm</a:t>
            </a:r>
          </a:p>
          <a:p>
            <a:pPr lvl="1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all three conditions, the algorithm employs a probabilistic approach: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Presence Heads: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Fully connected layers output a probability score for each disease.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Uncertainty Quantification: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system uses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Monte Carlo (MC) Dropout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a dedicated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Log-Variance head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calculate epistemic and aleatoric uncertainty. This provides a confidence level for every detection, identifying cases that may require closer expert review.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45410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50AB92-BC99-4BB9-EB66-653C1F4991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F94E80-E513-CD77-F809-6B1D178196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76568" y="441400"/>
            <a:ext cx="6029632" cy="395833"/>
          </a:xfrm>
        </p:spPr>
        <p:txBody>
          <a:bodyPr>
            <a:normAutofit fontScale="90000"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010627C0-07D1-BDB9-747F-F9493C0E0B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0960" y="226361"/>
            <a:ext cx="825909" cy="8259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A24CEB7E-ACD3-28A6-C100-3D921B4A535E}"/>
              </a:ext>
            </a:extLst>
          </p:cNvPr>
          <p:cNvSpPr txBox="1">
            <a:spLocks/>
          </p:cNvSpPr>
          <p:nvPr/>
        </p:nvSpPr>
        <p:spPr>
          <a:xfrm>
            <a:off x="5476568" y="928563"/>
            <a:ext cx="6029632" cy="3958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67500" lnSpcReduction="20000"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C3F7C3-4F92-E794-6A67-7EA056515599}"/>
              </a:ext>
            </a:extLst>
          </p:cNvPr>
          <p:cNvSpPr txBox="1"/>
          <p:nvPr/>
        </p:nvSpPr>
        <p:spPr>
          <a:xfrm>
            <a:off x="234388" y="1549719"/>
            <a:ext cx="11791708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3D Mesh Generation &amp; Clinical Mapping</a:t>
            </a:r>
          </a:p>
          <a:p>
            <a:pPr lvl="1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produce the final 3D output, the algorithm executes several geometric steps: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Marching Cubes Algorithm: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This is applied to the tumor and stroke segmentation masks to create a 3D surface mesh.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Inverse Affine Transformation: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results are mapped back from the 96³ ROI to the original patient space using the MRI's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NIfTI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Affine Matrix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This ensures that calculated metrics, such as lesion volume (mm³) and centroid coordinates (World RAS), are anatomically accurate for the clinical report.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Training Curriculum</a:t>
            </a:r>
          </a:p>
          <a:p>
            <a:pPr lvl="1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model was optimized using a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48-epoch Phase-Aware Curriculum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1: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Focuses on warming up the Alzheimer's path.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2: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Initializes the segmentation decoders for tumor and stroke.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3: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Joint training where all paths are optimized together to reach a final calibrated state.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33988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97FF0D-D5DC-5B50-1CA5-FB044F1FE5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EDF5D0-96D2-24BC-6BDC-0E79D8194E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76568" y="441400"/>
            <a:ext cx="6029632" cy="395833"/>
          </a:xfrm>
        </p:spPr>
        <p:txBody>
          <a:bodyPr>
            <a:no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&amp; Technologies Used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ADAE9A83-1EAE-0878-A2BE-6FB1D4CAB2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3615" y="226361"/>
            <a:ext cx="825909" cy="8259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32AD4A1-94B6-7A0C-DB30-78B5F0050946}"/>
              </a:ext>
            </a:extLst>
          </p:cNvPr>
          <p:cNvSpPr/>
          <p:nvPr/>
        </p:nvSpPr>
        <p:spPr>
          <a:xfrm>
            <a:off x="0" y="1371605"/>
            <a:ext cx="5801360" cy="5364477"/>
          </a:xfrm>
          <a:prstGeom prst="roundRect">
            <a:avLst/>
          </a:prstGeom>
          <a:effectLst>
            <a:innerShdw blurRad="114300">
              <a:prstClr val="black"/>
            </a:inn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 &amp; Deployment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Clinical web interface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Plotly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Interactive 3D visualization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Matplotlib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Slice heatmaps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Trimesh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STL mesh export 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&amp; Reporting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Scikit-learn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Metrics &amp; validation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NumPy / Pandas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Data handling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ReportLab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PDF report generation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Groq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 (Llama-3)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AI-assisted neuroradiology reporting</a:t>
            </a: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F9F1DEC-EB77-EC2A-75E2-30B30B5D4C3A}"/>
              </a:ext>
            </a:extLst>
          </p:cNvPr>
          <p:cNvSpPr/>
          <p:nvPr/>
        </p:nvSpPr>
        <p:spPr>
          <a:xfrm>
            <a:off x="5889522" y="955040"/>
            <a:ext cx="6200878" cy="5781040"/>
          </a:xfrm>
          <a:prstGeom prst="roundRect">
            <a:avLst/>
          </a:prstGeom>
          <a:effectLst>
            <a:innerShdw blurRad="114300">
              <a:prstClr val="black"/>
            </a:inn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Development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3.8+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Main programming language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PyTorch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2.0+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Deep learning framework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CUDA 11.8+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GPU acceleration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python-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dotenv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Secure environment configuration </a:t>
            </a:r>
          </a:p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Medical Imaging &amp; Processing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NiBabel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NIfTI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MRI file handling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HD-BET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Brain extraction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Scikit-image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Image processing &amp; 3D reconstruction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SciPy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Morphological operations </a:t>
            </a:r>
          </a:p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/ Deep Learning Models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3D CNN Encoder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Feature extraction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Transformer Bottleneck 3D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Global context learning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Attention-Gated U-Net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Tumor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stroke segmentation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ResBlock3D + SE Layers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Alzheimer MRI classification</a:t>
            </a:r>
          </a:p>
        </p:txBody>
      </p:sp>
    </p:spTree>
    <p:extLst>
      <p:ext uri="{BB962C8B-B14F-4D97-AF65-F5344CB8AC3E}">
        <p14:creationId xmlns:p14="http://schemas.microsoft.com/office/powerpoint/2010/main" val="14015159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B9FE6D-1406-0EB9-A7D9-5643A0C821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CBBB90-C251-F68C-60FE-AFBB82E015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76568" y="441400"/>
            <a:ext cx="6029632" cy="395833"/>
          </a:xfrm>
        </p:spPr>
        <p:txBody>
          <a:bodyPr>
            <a:no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Details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AA582AB7-A75B-0D1C-0AE2-79CABF9ADE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74815" y="226361"/>
            <a:ext cx="825909" cy="8259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FBC2F56-7D35-5527-FB0D-AC7BFEF1487C}"/>
              </a:ext>
            </a:extLst>
          </p:cNvPr>
          <p:cNvSpPr txBox="1"/>
          <p:nvPr/>
        </p:nvSpPr>
        <p:spPr>
          <a:xfrm>
            <a:off x="243840" y="1572183"/>
            <a:ext cx="11734800" cy="3780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 Developed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 Module: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MRI loading, normalization, padding, resampling (96×96×96)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Detection Module: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Shared 3D CNN + transformer bottleneck for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tumor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/stroke detection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Alzheimer Module: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Independent residual encoder with uncertainty head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Segmentation Module: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Attention U-Net for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tumor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stroke lesion masks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 Module: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3D lesion rendering + brain extraction using HD-BET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 Module: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Interactive deployment using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65179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6CA333-B685-54D1-B281-247F7B886A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921C8E-8B21-8CB1-6589-D96902BE2F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76568" y="441400"/>
            <a:ext cx="6029632" cy="395833"/>
          </a:xfrm>
        </p:spPr>
        <p:txBody>
          <a:bodyPr>
            <a:no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Details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7118C4EE-FFCD-C60B-1EAF-E07C704380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74815" y="226361"/>
            <a:ext cx="825909" cy="8259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6AC528C-D485-5C5E-6E24-56D1128F49D2}"/>
              </a:ext>
            </a:extLst>
          </p:cNvPr>
          <p:cNvSpPr txBox="1"/>
          <p:nvPr/>
        </p:nvSpPr>
        <p:spPr>
          <a:xfrm>
            <a:off x="117167" y="1584510"/>
            <a:ext cx="11734800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Used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Tumor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BraTS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Challenge 2020 + 2021 (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1619 scans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Stroke: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ISLES Challenge 2022 (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250 scans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Alzheimer: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Alzheimer's Disease Neuroimaging Initiative (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1208 scans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Setup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Framework: 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PyTorch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Hardware: Tesla T4 GPU 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Training: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48 epochs, 3-phase curriculum learning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Size: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gradient accumulation (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Loss: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Dice + </a:t>
            </a:r>
            <a:r>
              <a:rPr lang="en-IN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BCEWithLogitsLoss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Calibration: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Temperature Scaling + Monte Carlo Dropout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218768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2C6FE1-3DA1-C3CA-6988-734373FB9E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920D1F-8CF9-8481-AE53-B6A00B948F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76568" y="441400"/>
            <a:ext cx="6029632" cy="395833"/>
          </a:xfrm>
        </p:spPr>
        <p:txBody>
          <a:bodyPr>
            <a:no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and analysis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AD0FBB94-6D4D-A188-5F9A-FE6B12A3A0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5535" y="226361"/>
            <a:ext cx="825909" cy="8259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EE26DCC-3032-7D89-8956-D8BEFAD3E43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884" y="1947003"/>
            <a:ext cx="5263116" cy="33528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B56B767-52AB-D7FC-3EBA-80B96B9C4A9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5535" y="1947003"/>
            <a:ext cx="5050667" cy="335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34446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B5CB38-0112-6E4E-0ECA-5118CBB8FF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103A6-1EA9-96C4-C4F0-C17C1F536D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61241" y="431703"/>
            <a:ext cx="4544961" cy="415220"/>
          </a:xfrm>
        </p:spPr>
        <p:txBody>
          <a:bodyPr>
            <a:no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and analysis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175B98-58B9-4C38-ED33-3F4338EF90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2" y="2144472"/>
            <a:ext cx="5079991" cy="271068"/>
          </a:xfrm>
        </p:spPr>
        <p:txBody>
          <a:bodyPr>
            <a:normAutofit fontScale="85000" lnSpcReduction="20000"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 (soft) vs Val (threshold)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01FB0410-CD68-4128-7C39-1376B64CFE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5535" y="226361"/>
            <a:ext cx="825909" cy="8259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EE335C2B-744C-913D-158A-75BB31D0ACAB}"/>
              </a:ext>
            </a:extLst>
          </p:cNvPr>
          <p:cNvSpPr txBox="1">
            <a:spLocks/>
          </p:cNvSpPr>
          <p:nvPr/>
        </p:nvSpPr>
        <p:spPr>
          <a:xfrm>
            <a:off x="604685" y="1439501"/>
            <a:ext cx="4544961" cy="4152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Tumor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segmentation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414D12F9-A100-88FE-5A23-EFB88095BCD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9998" t="26594" r="20859" b="6049"/>
          <a:stretch>
            <a:fillRect/>
          </a:stretch>
        </p:blipFill>
        <p:spPr>
          <a:xfrm>
            <a:off x="685800" y="2705292"/>
            <a:ext cx="4463844" cy="2042723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644976D7-39DB-F179-F8FB-4EE230AB932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81626" t="29273" r="2625" b="54292"/>
          <a:stretch>
            <a:fillRect/>
          </a:stretch>
        </p:blipFill>
        <p:spPr>
          <a:xfrm>
            <a:off x="2145643" y="5158740"/>
            <a:ext cx="1463040" cy="717126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3C5CAEAC-DBC8-C9B8-B519-36158F2ED94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17" t="12252" r="26667" b="11123"/>
          <a:stretch>
            <a:fillRect/>
          </a:stretch>
        </p:blipFill>
        <p:spPr>
          <a:xfrm>
            <a:off x="6543031" y="2705290"/>
            <a:ext cx="4770120" cy="2383990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8A711E4C-338F-216C-8E46-28335521B665}"/>
              </a:ext>
            </a:extLst>
          </p:cNvPr>
          <p:cNvSpPr txBox="1">
            <a:spLocks/>
          </p:cNvSpPr>
          <p:nvPr/>
        </p:nvSpPr>
        <p:spPr>
          <a:xfrm>
            <a:off x="6233162" y="2143399"/>
            <a:ext cx="5079991" cy="271068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850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Tumor Val HD95 &amp; ASD (mm) – only HD epochs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3C149E69-7228-0158-8FEB-05B32D5FCB5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75501" t="16062" r="11563" b="65602"/>
          <a:stretch>
            <a:fillRect/>
          </a:stretch>
        </p:blipFill>
        <p:spPr>
          <a:xfrm>
            <a:off x="8502039" y="5158742"/>
            <a:ext cx="1261722" cy="850569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4530082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4944C7-4AA6-8BC1-7E8C-EE54C32F9A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967996-6869-3721-0AED-B70C79F8DB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61241" y="431703"/>
            <a:ext cx="4544961" cy="415220"/>
          </a:xfrm>
        </p:spPr>
        <p:txBody>
          <a:bodyPr>
            <a:no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and analysis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62A79D-7C77-B209-CFE0-F7C34A6CDC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2" y="2144472"/>
            <a:ext cx="5079991" cy="271068"/>
          </a:xfrm>
        </p:spPr>
        <p:txBody>
          <a:bodyPr>
            <a:normAutofit fontScale="85000" lnSpcReduction="20000"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 Soft Dice vs Val Dice/IOU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93E7CF60-1453-C729-DC53-1924833F93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5535" y="226361"/>
            <a:ext cx="825909" cy="8259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6B82EE3E-CEDD-E2FC-2DA6-40E45E5A031F}"/>
              </a:ext>
            </a:extLst>
          </p:cNvPr>
          <p:cNvSpPr txBox="1">
            <a:spLocks/>
          </p:cNvSpPr>
          <p:nvPr/>
        </p:nvSpPr>
        <p:spPr>
          <a:xfrm>
            <a:off x="604685" y="1439501"/>
            <a:ext cx="4708997" cy="4152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STROKE segmentation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B5144DB8-5A27-F158-991C-42E379877A1F}"/>
              </a:ext>
            </a:extLst>
          </p:cNvPr>
          <p:cNvSpPr txBox="1">
            <a:spLocks/>
          </p:cNvSpPr>
          <p:nvPr/>
        </p:nvSpPr>
        <p:spPr>
          <a:xfrm>
            <a:off x="6233162" y="2143399"/>
            <a:ext cx="5079991" cy="271068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850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Stroke Val HD95 &amp; ASD (mm) – only HD epochs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90D40AC-A0B6-D008-2DFF-6CFE157AE72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438" t="14160" r="20000" b="4271"/>
          <a:stretch>
            <a:fillRect/>
          </a:stretch>
        </p:blipFill>
        <p:spPr>
          <a:xfrm>
            <a:off x="685800" y="2588263"/>
            <a:ext cx="4790440" cy="2457137"/>
          </a:xfrm>
          <a:prstGeom prst="rect">
            <a:avLst/>
          </a:prstGeom>
          <a:ln w="12700">
            <a:solidFill>
              <a:schemeClr val="tx2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5C75137-6016-9085-3800-584F4D40D5B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82188" t="26308" r="4479" b="57248"/>
          <a:stretch>
            <a:fillRect/>
          </a:stretch>
        </p:blipFill>
        <p:spPr>
          <a:xfrm>
            <a:off x="2430780" y="5418499"/>
            <a:ext cx="1300480" cy="772160"/>
          </a:xfrm>
          <a:prstGeom prst="rect">
            <a:avLst/>
          </a:prstGeom>
          <a:ln w="12700">
            <a:solidFill>
              <a:schemeClr val="tx2"/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10B5D0D-2405-9037-59F3-B88CCC15155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4970" r="15625" b="4872"/>
          <a:stretch>
            <a:fillRect/>
          </a:stretch>
        </p:blipFill>
        <p:spPr>
          <a:xfrm>
            <a:off x="6355071" y="2650762"/>
            <a:ext cx="4958080" cy="2332134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6256418-3D11-927E-E1B6-511F7D81F3E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86458" t="16653" r="2500" b="68409"/>
          <a:stretch>
            <a:fillRect/>
          </a:stretch>
        </p:blipFill>
        <p:spPr>
          <a:xfrm>
            <a:off x="8156759" y="5344161"/>
            <a:ext cx="1076960" cy="721361"/>
          </a:xfrm>
          <a:prstGeom prst="rect">
            <a:avLst/>
          </a:prstGeom>
          <a:ln w="12700">
            <a:solidFill>
              <a:schemeClr val="tx2"/>
            </a:solidFill>
          </a:ln>
        </p:spPr>
      </p:pic>
    </p:spTree>
    <p:extLst>
      <p:ext uri="{BB962C8B-B14F-4D97-AF65-F5344CB8AC3E}">
        <p14:creationId xmlns:p14="http://schemas.microsoft.com/office/powerpoint/2010/main" val="24941673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4619B1-C87A-8FA0-BC60-7660515376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D10BA-6F72-2180-D937-1C6AF8022C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61241" y="431703"/>
            <a:ext cx="4544961" cy="415220"/>
          </a:xfrm>
        </p:spPr>
        <p:txBody>
          <a:bodyPr>
            <a:no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and analysis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1E8849-7335-1681-8B56-9B937408D2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2" y="2144472"/>
            <a:ext cx="5079991" cy="271068"/>
          </a:xfrm>
        </p:spPr>
        <p:txBody>
          <a:bodyPr>
            <a:normAutofit fontScale="85000" lnSpcReduction="20000"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Alzheimer Val: AUC / F1 / Accuracy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73C417BD-9AF5-9DCC-8B1B-1A4147CC59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5535" y="226361"/>
            <a:ext cx="825909" cy="8259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F73B7D08-0368-D9E1-202A-AA6BD9523597}"/>
              </a:ext>
            </a:extLst>
          </p:cNvPr>
          <p:cNvSpPr txBox="1">
            <a:spLocks/>
          </p:cNvSpPr>
          <p:nvPr/>
        </p:nvSpPr>
        <p:spPr>
          <a:xfrm>
            <a:off x="485475" y="1508327"/>
            <a:ext cx="5560141" cy="4152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Alzheimer segmentation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8BE07FE0-E737-3A1B-7849-6E0BF334C2CE}"/>
              </a:ext>
            </a:extLst>
          </p:cNvPr>
          <p:cNvSpPr txBox="1">
            <a:spLocks/>
          </p:cNvSpPr>
          <p:nvPr/>
        </p:nvSpPr>
        <p:spPr>
          <a:xfrm>
            <a:off x="6404679" y="2144472"/>
            <a:ext cx="5079991" cy="271068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850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Alzheimer Val: Calibration (Brier/EUE)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A24AB9D-4660-5241-C035-AD8FC2F39F8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708" t="21219" r="51042" b="7396"/>
          <a:stretch>
            <a:fillRect/>
          </a:stretch>
        </p:blipFill>
        <p:spPr>
          <a:xfrm>
            <a:off x="1475822" y="2705293"/>
            <a:ext cx="2995164" cy="2334069"/>
          </a:xfrm>
          <a:prstGeom prst="rect">
            <a:avLst/>
          </a:prstGeom>
          <a:ln w="12700">
            <a:solidFill>
              <a:schemeClr val="tx2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5DC2C94-6F0A-55F6-B428-9F86515BF03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84100" t="23915" r="1290" b="59710"/>
          <a:stretch>
            <a:fillRect/>
          </a:stretch>
        </p:blipFill>
        <p:spPr>
          <a:xfrm>
            <a:off x="2260934" y="5325918"/>
            <a:ext cx="1424940" cy="806373"/>
          </a:xfrm>
          <a:prstGeom prst="rect">
            <a:avLst/>
          </a:prstGeom>
          <a:ln w="12700">
            <a:solidFill>
              <a:schemeClr val="tx2"/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58E46A6-BBA1-B90E-B114-7D69F118100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0706" t="13512" r="16028" b="7821"/>
          <a:stretch>
            <a:fillRect/>
          </a:stretch>
        </p:blipFill>
        <p:spPr>
          <a:xfrm>
            <a:off x="6823587" y="2581884"/>
            <a:ext cx="3586816" cy="2457476"/>
          </a:xfrm>
          <a:prstGeom prst="rect">
            <a:avLst/>
          </a:prstGeom>
          <a:ln w="12700">
            <a:solidFill>
              <a:schemeClr val="tx2"/>
            </a:solidFill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B3FB004-4688-8840-46DA-A1EFE98B35C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84100" t="23915" r="1290" b="59710"/>
          <a:stretch>
            <a:fillRect/>
          </a:stretch>
        </p:blipFill>
        <p:spPr>
          <a:xfrm>
            <a:off x="8155373" y="5293317"/>
            <a:ext cx="1424940" cy="806373"/>
          </a:xfrm>
          <a:prstGeom prst="rect">
            <a:avLst/>
          </a:prstGeom>
          <a:ln w="12700">
            <a:solidFill>
              <a:schemeClr val="tx2"/>
            </a:solidFill>
          </a:ln>
        </p:spPr>
      </p:pic>
    </p:spTree>
    <p:extLst>
      <p:ext uri="{BB962C8B-B14F-4D97-AF65-F5344CB8AC3E}">
        <p14:creationId xmlns:p14="http://schemas.microsoft.com/office/powerpoint/2010/main" val="164690964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DA1B70-3831-F694-65A6-63163117AB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BA6D1A-45B8-BDD1-661B-82A1FB8E4A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76568" y="441400"/>
            <a:ext cx="6029632" cy="395833"/>
          </a:xfrm>
        </p:spPr>
        <p:txBody>
          <a:bodyPr>
            <a:no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and analysis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F53B7A99-CDB1-B64C-FE6C-5CDB9CA949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5375" y="226361"/>
            <a:ext cx="825909" cy="8259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CC6795E6-0805-8BC0-F56A-7E9B545F3DA9}"/>
              </a:ext>
            </a:extLst>
          </p:cNvPr>
          <p:cNvSpPr txBox="1">
            <a:spLocks/>
          </p:cNvSpPr>
          <p:nvPr/>
        </p:nvSpPr>
        <p:spPr>
          <a:xfrm>
            <a:off x="4386580" y="1108858"/>
            <a:ext cx="3418840" cy="39583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8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Metrics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F037FEA-3747-6E1C-5594-A09DAEDB71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5969002"/>
              </p:ext>
            </p:extLst>
          </p:nvPr>
        </p:nvGraphicFramePr>
        <p:xfrm>
          <a:off x="274320" y="1700678"/>
          <a:ext cx="11643360" cy="49309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10840">
                  <a:extLst>
                    <a:ext uri="{9D8B030D-6E8A-4147-A177-3AD203B41FA5}">
                      <a16:colId xmlns:a16="http://schemas.microsoft.com/office/drawing/2014/main" val="1215778554"/>
                    </a:ext>
                  </a:extLst>
                </a:gridCol>
                <a:gridCol w="2910840">
                  <a:extLst>
                    <a:ext uri="{9D8B030D-6E8A-4147-A177-3AD203B41FA5}">
                      <a16:colId xmlns:a16="http://schemas.microsoft.com/office/drawing/2014/main" val="2775845746"/>
                    </a:ext>
                  </a:extLst>
                </a:gridCol>
                <a:gridCol w="2910840">
                  <a:extLst>
                    <a:ext uri="{9D8B030D-6E8A-4147-A177-3AD203B41FA5}">
                      <a16:colId xmlns:a16="http://schemas.microsoft.com/office/drawing/2014/main" val="1249306366"/>
                    </a:ext>
                  </a:extLst>
                </a:gridCol>
                <a:gridCol w="2910840">
                  <a:extLst>
                    <a:ext uri="{9D8B030D-6E8A-4147-A177-3AD203B41FA5}">
                      <a16:colId xmlns:a16="http://schemas.microsoft.com/office/drawing/2014/main" val="1082835465"/>
                    </a:ext>
                  </a:extLst>
                </a:gridCol>
              </a:tblGrid>
              <a:tr h="54788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Metric</a:t>
                      </a: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Best Value</a:t>
                      </a: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Best Epoch</a:t>
                      </a: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Phase</a:t>
                      </a:r>
                    </a:p>
                  </a:txBody>
                  <a:tcPr marL="99060" marR="99060" anchor="ctr"/>
                </a:tc>
                <a:extLst>
                  <a:ext uri="{0D108BD9-81ED-4DB2-BD59-A6C34878D82A}">
                    <a16:rowId xmlns:a16="http://schemas.microsoft.com/office/drawing/2014/main" val="1623831939"/>
                  </a:ext>
                </a:extLst>
              </a:tr>
              <a:tr h="54788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Tumor ET Dice (val)</a:t>
                      </a:r>
                      <a:endParaRPr lang="en-IN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0.7637</a:t>
                      </a:r>
                      <a:endParaRPr lang="en-IN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Ep 26 → held constant</a:t>
                      </a: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Phase 2 SEG (ep 26)</a:t>
                      </a:r>
                    </a:p>
                  </a:txBody>
                  <a:tcPr marL="99060" marR="99060" anchor="ctr"/>
                </a:tc>
                <a:extLst>
                  <a:ext uri="{0D108BD9-81ED-4DB2-BD59-A6C34878D82A}">
                    <a16:rowId xmlns:a16="http://schemas.microsoft.com/office/drawing/2014/main" val="362324330"/>
                  </a:ext>
                </a:extLst>
              </a:tr>
              <a:tr h="54788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Tumor TC Dice (val)</a:t>
                      </a:r>
                      <a:endParaRPr lang="en-IN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0.8322</a:t>
                      </a:r>
                      <a:endParaRPr lang="en-IN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Ep 26 → held constant</a:t>
                      </a: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Phase 2 SEG (ep 26)</a:t>
                      </a:r>
                    </a:p>
                  </a:txBody>
                  <a:tcPr marL="99060" marR="99060" anchor="ctr"/>
                </a:tc>
                <a:extLst>
                  <a:ext uri="{0D108BD9-81ED-4DB2-BD59-A6C34878D82A}">
                    <a16:rowId xmlns:a16="http://schemas.microsoft.com/office/drawing/2014/main" val="1208726758"/>
                  </a:ext>
                </a:extLst>
              </a:tr>
              <a:tr h="54788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Tumor WT Dice (val)</a:t>
                      </a:r>
                      <a:endParaRPr lang="en-IN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0.8902</a:t>
                      </a:r>
                      <a:endParaRPr lang="en-IN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Ep 26 → held constant</a:t>
                      </a: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Phase 2 SEG (ep 26)</a:t>
                      </a:r>
                    </a:p>
                  </a:txBody>
                  <a:tcPr marL="99060" marR="99060" anchor="ctr"/>
                </a:tc>
                <a:extLst>
                  <a:ext uri="{0D108BD9-81ED-4DB2-BD59-A6C34878D82A}">
                    <a16:rowId xmlns:a16="http://schemas.microsoft.com/office/drawing/2014/main" val="2351874927"/>
                  </a:ext>
                </a:extLst>
              </a:tr>
              <a:tr h="54788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Stroke Dice (val)</a:t>
                      </a:r>
                      <a:endParaRPr lang="en-IN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0.5005</a:t>
                      </a:r>
                      <a:endParaRPr lang="en-IN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Ep 27 onward (plateau)</a:t>
                      </a: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Phase 3 Joint (ep 27+)</a:t>
                      </a:r>
                    </a:p>
                  </a:txBody>
                  <a:tcPr marL="99060" marR="99060" anchor="ctr"/>
                </a:tc>
                <a:extLst>
                  <a:ext uri="{0D108BD9-81ED-4DB2-BD59-A6C34878D82A}">
                    <a16:rowId xmlns:a16="http://schemas.microsoft.com/office/drawing/2014/main" val="3480609430"/>
                  </a:ext>
                </a:extLst>
              </a:tr>
              <a:tr h="54788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Stroke IoU (val)</a:t>
                      </a:r>
                      <a:endParaRPr lang="en-IN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0.4051</a:t>
                      </a:r>
                      <a:endParaRPr lang="en-IN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Ep 27 onward (plateau)</a:t>
                      </a: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Phase 3 Joint (ep 27+)</a:t>
                      </a:r>
                    </a:p>
                  </a:txBody>
                  <a:tcPr marL="99060" marR="99060" anchor="ctr"/>
                </a:tc>
                <a:extLst>
                  <a:ext uri="{0D108BD9-81ED-4DB2-BD59-A6C34878D82A}">
                    <a16:rowId xmlns:a16="http://schemas.microsoft.com/office/drawing/2014/main" val="1094586069"/>
                  </a:ext>
                </a:extLst>
              </a:tr>
              <a:tr h="54788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Alzheimer Loss (train)</a:t>
                      </a:r>
                      <a:endParaRPr lang="en-IN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0.2052</a:t>
                      </a:r>
                      <a:endParaRPr lang="en-IN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Ep 48</a:t>
                      </a: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Phase 3 Joint (final)</a:t>
                      </a:r>
                    </a:p>
                  </a:txBody>
                  <a:tcPr marL="99060" marR="99060" anchor="ctr"/>
                </a:tc>
                <a:extLst>
                  <a:ext uri="{0D108BD9-81ED-4DB2-BD59-A6C34878D82A}">
                    <a16:rowId xmlns:a16="http://schemas.microsoft.com/office/drawing/2014/main" val="2089471678"/>
                  </a:ext>
                </a:extLst>
              </a:tr>
              <a:tr h="54788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Global Score (best)</a:t>
                      </a:r>
                      <a:endParaRPr lang="en-IN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2.0385</a:t>
                      </a:r>
                      <a:endParaRPr lang="en-IN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Ep 34</a:t>
                      </a: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Phase 3 Joint</a:t>
                      </a:r>
                    </a:p>
                  </a:txBody>
                  <a:tcPr marL="99060" marR="99060" anchor="ctr"/>
                </a:tc>
                <a:extLst>
                  <a:ext uri="{0D108BD9-81ED-4DB2-BD59-A6C34878D82A}">
                    <a16:rowId xmlns:a16="http://schemas.microsoft.com/office/drawing/2014/main" val="2732991683"/>
                  </a:ext>
                </a:extLst>
              </a:tr>
              <a:tr h="54788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Stroke Train Dice</a:t>
                      </a:r>
                      <a:endParaRPr lang="en-IN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0.6412</a:t>
                      </a:r>
                      <a:endParaRPr lang="en-IN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Ep 26 (warmup peak)</a:t>
                      </a: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Phase 2 SEG</a:t>
                      </a:r>
                    </a:p>
                  </a:txBody>
                  <a:tcPr marL="99060" marR="99060" anchor="ctr"/>
                </a:tc>
                <a:extLst>
                  <a:ext uri="{0D108BD9-81ED-4DB2-BD59-A6C34878D82A}">
                    <a16:rowId xmlns:a16="http://schemas.microsoft.com/office/drawing/2014/main" val="38064959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3675626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B40F83-7E66-2A63-329A-2E0A7FACFF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B76E7E-02F6-F45A-2952-F9EADA7203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8168" y="656437"/>
            <a:ext cx="6029632" cy="395833"/>
          </a:xfrm>
        </p:spPr>
        <p:txBody>
          <a:bodyPr>
            <a:no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Comparison: Existing vs Proposed System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F909220E-A8B0-55A4-42CD-79B4D94D47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68335" y="639315"/>
            <a:ext cx="825909" cy="8259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3D3A0E0-840A-6880-0002-9BDE134186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2002184"/>
              </p:ext>
            </p:extLst>
          </p:nvPr>
        </p:nvGraphicFramePr>
        <p:xfrm>
          <a:off x="0" y="1465222"/>
          <a:ext cx="12192000" cy="53927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07676020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187112435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748046215"/>
                    </a:ext>
                  </a:extLst>
                </a:gridCol>
              </a:tblGrid>
              <a:tr h="41736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Parameter</a:t>
                      </a: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Existing Systems</a:t>
                      </a:r>
                      <a:endParaRPr lang="en-I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Proposed NeuroX System</a:t>
                      </a: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77847748"/>
                  </a:ext>
                </a:extLst>
              </a:tr>
              <a:tr h="68310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Disease Coverage</a:t>
                      </a:r>
                      <a:endParaRPr lang="en-I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Detects only one disease at a 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Simultaneous detection of tumor, stroke, and Alzheimer’s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91315672"/>
                  </a:ext>
                </a:extLst>
              </a:tr>
              <a:tr h="68310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 Architecture</a:t>
                      </a:r>
                      <a:endParaRPr lang="en-I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Conventional CNN-based single-task models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Shared 3D CNN + transformer + dedicated Alzheimer branch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26289004"/>
                  </a:ext>
                </a:extLst>
              </a:tr>
              <a:tr h="68310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Segmentation Capability</a:t>
                      </a:r>
                      <a:endParaRPr lang="en-I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or disease-specific segmentation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Tumor multi-class + stroke binary segmentation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87735129"/>
                  </a:ext>
                </a:extLst>
              </a:tr>
              <a:tr h="68310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Uncertainty Estimation</a:t>
                      </a:r>
                      <a:endParaRPr lang="en-I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Not available in most systems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Monte Carlo dropout + variance prediction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81250011"/>
                  </a:ext>
                </a:extLst>
              </a:tr>
              <a:tr h="41928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Visualization</a:t>
                      </a:r>
                      <a:endParaRPr lang="en-I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Mostly 2D outputs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Interactive 3D lesion visualization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07998048"/>
                  </a:ext>
                </a:extLst>
              </a:tr>
              <a:tr h="41928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Brain Extraction</a:t>
                      </a:r>
                      <a:endParaRPr lang="en-I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Often manual or basic preprocessing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Automated using HD-BET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9453667"/>
                  </a:ext>
                </a:extLst>
              </a:tr>
              <a:tr h="5658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Clinical Reporting</a:t>
                      </a:r>
                      <a:endParaRPr lang="en-I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Manual interpretation required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Automated PDF clinical report generation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83449685"/>
                  </a:ext>
                </a:extLst>
              </a:tr>
              <a:tr h="41928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Deployment</a:t>
                      </a:r>
                      <a:endParaRPr lang="en-I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Research-only standalone scripts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Interactive deployment using Streamlit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14943438"/>
                  </a:ext>
                </a:extLst>
              </a:tr>
              <a:tr h="41928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Dataset Handling</a:t>
                      </a:r>
                      <a:endParaRPr lang="en-I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Separate models for separate datasets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Unified multi-dataset training framework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119472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1319065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CED7B2-3267-305D-1D35-BBDED818A5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E07151-CACC-211D-399A-0F14216CA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68320" y="639316"/>
            <a:ext cx="8610600" cy="1293028"/>
          </a:xfrm>
        </p:spPr>
        <p:txBody>
          <a:bodyPr>
            <a:no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of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NeuroX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06B393BC-7779-0670-1AB9-449B2B7783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7855" y="872877"/>
            <a:ext cx="825909" cy="8259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C063190-4E1D-FF36-4F99-AF83945ECA78}"/>
              </a:ext>
            </a:extLst>
          </p:cNvPr>
          <p:cNvSpPr/>
          <p:nvPr/>
        </p:nvSpPr>
        <p:spPr>
          <a:xfrm>
            <a:off x="6172200" y="1981581"/>
            <a:ext cx="5928360" cy="44500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Deployment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Deployed as interactive web application using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Accepts MRI scans in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NIfTI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format for direct analysis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disease prediction, segmentation, and 3D visualization in one workflow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Produces automated PDF clinical reports for rapid review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run on GPU-enabled systems for faster inference</a:t>
            </a:r>
          </a:p>
          <a:p>
            <a:pPr algn="ctr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CCD3A9F-C4AD-AB9E-BCA5-323329650ECE}"/>
              </a:ext>
            </a:extLst>
          </p:cNvPr>
          <p:cNvSpPr/>
          <p:nvPr/>
        </p:nvSpPr>
        <p:spPr>
          <a:xfrm>
            <a:off x="167640" y="1981581"/>
            <a:ext cx="5928360" cy="44500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Industry Relevance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Useful in hospitals and diagnostic centers for assisting MRI-based neurological screening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radiologists in early detection of tumor, stroke, and Alzheimer’s disease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reduce manual workload in multi-scan clinical analysis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Applicable in medical AI research and decision-support systems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Suitable for integration with hospital imaging workflows</a:t>
            </a:r>
          </a:p>
          <a:p>
            <a:pPr algn="ctr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464599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E5A8EB-E49A-9898-65C9-B3E27D9A4C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ACC5CC-5BDB-0F96-5FED-9217AD44E2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68320" y="639316"/>
            <a:ext cx="8610600" cy="1293028"/>
          </a:xfrm>
        </p:spPr>
        <p:txBody>
          <a:bodyPr>
            <a:no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During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NeuroX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Development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82C3E77E-ACC2-5A8E-9B35-BE3E9372E9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0975" y="1025277"/>
            <a:ext cx="825909" cy="8259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4FFCB7A-5106-BC0B-8AA8-69793B3A5AF7}"/>
              </a:ext>
            </a:extLst>
          </p:cNvPr>
          <p:cNvSpPr txBox="1"/>
          <p:nvPr/>
        </p:nvSpPr>
        <p:spPr>
          <a:xfrm>
            <a:off x="157480" y="1851184"/>
            <a:ext cx="11877040" cy="51042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Major Challenges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Handling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 MRI modalities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across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tumor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stroke, and Alzheimer datasets.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Managing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 3D MRI volumes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which increased memory usage during training.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Severe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imbalance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especially in stroke and Alzheimer datasets.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Integrating three different disease tasks into a single unified architecture.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Achieving stable segmentation performance for small lesions.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Stroke performance plateau due to limited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ISLES Challenge dataset size.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Ensuring compatibility of model checkpoints across architecture updates.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training time on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Tesla T4 GPU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due to 3D computation.</a:t>
            </a:r>
          </a:p>
        </p:txBody>
      </p:sp>
    </p:spTree>
    <p:extLst>
      <p:ext uri="{BB962C8B-B14F-4D97-AF65-F5344CB8AC3E}">
        <p14:creationId xmlns:p14="http://schemas.microsoft.com/office/powerpoint/2010/main" val="351981860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182D11-2DD1-328A-931F-640BF88495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75DB3-4BC8-89B6-D262-F607E7E539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0720" y="131316"/>
            <a:ext cx="8610600" cy="1293028"/>
          </a:xfrm>
        </p:spPr>
        <p:txBody>
          <a:bodyPr>
            <a:no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EE4D2950-9234-F021-BFB5-A18A50A1A2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8815" y="364877"/>
            <a:ext cx="825909" cy="8259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5783BE5-2B40-4A80-E79E-2EC9AEB0D0A0}"/>
              </a:ext>
            </a:extLst>
          </p:cNvPr>
          <p:cNvSpPr txBox="1"/>
          <p:nvPr/>
        </p:nvSpPr>
        <p:spPr>
          <a:xfrm>
            <a:off x="157480" y="1851184"/>
            <a:ext cx="6243320" cy="4754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NeuroX successfully integrates </a:t>
            </a:r>
            <a:r>
              <a:rPr lang="en-IN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tumor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stroke, and Alzheimer’s detection into a single MRI analysis framework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combines 3D CNN, transformer bottleneck, and task-specific decoders for multi-disease prediction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Accurate lesion segmentation was achieved for </a:t>
            </a:r>
            <a:r>
              <a:rPr lang="en-IN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tumor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stroke cases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Uncertainty estimation improved prediction reliability for clinical interpretation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3D visualization and automated reporting enhance practical usability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demonstrates strong potential as an AI-assisted neuroimaging tool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0D93A63-5559-7C33-99DD-D1DEC66F0FF7}"/>
              </a:ext>
            </a:extLst>
          </p:cNvPr>
          <p:cNvSpPr/>
          <p:nvPr/>
        </p:nvSpPr>
        <p:spPr>
          <a:xfrm>
            <a:off x="6807200" y="2387600"/>
            <a:ext cx="5024120" cy="3302000"/>
          </a:xfrm>
          <a:prstGeom prst="roundRect">
            <a:avLst/>
          </a:prstGeom>
          <a:blipFill>
            <a:blip r:embed="rId4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033835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71F813-1A38-82FA-2DA4-E32A8AF216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7C413-F046-B232-B225-8B1017D176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0720" y="0"/>
            <a:ext cx="8610600" cy="1293028"/>
          </a:xfrm>
        </p:spPr>
        <p:txBody>
          <a:bodyPr>
            <a:no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Work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DCB53163-14B3-0C3D-4555-E36EE63E5A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75775" y="364877"/>
            <a:ext cx="825909" cy="8259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97777CB-C55D-CF7A-A92B-E3079734A8A5}"/>
              </a:ext>
            </a:extLst>
          </p:cNvPr>
          <p:cNvSpPr txBox="1"/>
          <p:nvPr/>
        </p:nvSpPr>
        <p:spPr>
          <a:xfrm>
            <a:off x="157480" y="1851184"/>
            <a:ext cx="6243320" cy="4653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additional neurological disorders such as haemorrhage and multiple sclerosis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Expand stroke training using larger datasets beyond ISLES Challenge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real-time inference speed for clinical deployment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multi-sequence MRI fusion (T1 + T2 + FLAIR)Validate on external hospital datasets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Explore PACS integration for hospital workflow deployment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6B1615A-BD56-F1FF-0D66-41CA954B71A7}"/>
              </a:ext>
            </a:extLst>
          </p:cNvPr>
          <p:cNvSpPr/>
          <p:nvPr/>
        </p:nvSpPr>
        <p:spPr>
          <a:xfrm>
            <a:off x="6276667" y="1293028"/>
            <a:ext cx="5024120" cy="4793456"/>
          </a:xfrm>
          <a:prstGeom prst="roundRect">
            <a:avLst/>
          </a:prstGeom>
          <a:blipFill>
            <a:blip r:embed="rId4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366903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>
            <a:extLst>
              <a:ext uri="{FF2B5EF4-FFF2-40B4-BE49-F238E27FC236}">
                <a16:creationId xmlns:a16="http://schemas.microsoft.com/office/drawing/2014/main" id="{0050948D-2842-7089-B095-456927AEB5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8794" y="-110441"/>
            <a:ext cx="9794412" cy="7342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28582715"/>
      </p:ext>
    </p:extLst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E5224E"/>
      </a:accent1>
      <a:accent2>
        <a:srgbClr val="9D074E"/>
      </a:accent2>
      <a:accent3>
        <a:srgbClr val="7F2294"/>
      </a:accent3>
      <a:accent4>
        <a:srgbClr val="8D65EA"/>
      </a:accent4>
      <a:accent5>
        <a:srgbClr val="588FE2"/>
      </a:accent5>
      <a:accent6>
        <a:srgbClr val="127CA4"/>
      </a:accent6>
      <a:hlink>
        <a:srgbClr val="FB4AB6"/>
      </a:hlink>
      <a:folHlink>
        <a:srgbClr val="F98FE9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6DB8EB18-3657-4051-A897-2ED38832359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Vapor Trail</Template>
  <TotalTime>342</TotalTime>
  <Words>2286</Words>
  <Application>Microsoft Office PowerPoint</Application>
  <PresentationFormat>Widescreen</PresentationFormat>
  <Paragraphs>344</Paragraphs>
  <Slides>30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7" baseType="lpstr">
      <vt:lpstr>Algerian</vt:lpstr>
      <vt:lpstr>Arial</vt:lpstr>
      <vt:lpstr>Calibri</vt:lpstr>
      <vt:lpstr>Century Gothic</vt:lpstr>
      <vt:lpstr>Times New Roman</vt:lpstr>
      <vt:lpstr>Wingdings</vt:lpstr>
      <vt:lpstr>Vapor Trail</vt:lpstr>
      <vt:lpstr>Neurox  3D Neurological Brain Segmentation</vt:lpstr>
      <vt:lpstr>Problem Statement</vt:lpstr>
      <vt:lpstr>Motivation</vt:lpstr>
      <vt:lpstr>Objectives</vt:lpstr>
      <vt:lpstr>Literature Review</vt:lpstr>
      <vt:lpstr>Literature Review</vt:lpstr>
      <vt:lpstr>Research Gap</vt:lpstr>
      <vt:lpstr>Proposed System</vt:lpstr>
      <vt:lpstr>Proposed System</vt:lpstr>
      <vt:lpstr>System Architecture</vt:lpstr>
      <vt:lpstr>System Architecture</vt:lpstr>
      <vt:lpstr>System Architecture</vt:lpstr>
      <vt:lpstr>Methodology</vt:lpstr>
      <vt:lpstr>Methodology</vt:lpstr>
      <vt:lpstr>Methodology</vt:lpstr>
      <vt:lpstr>Methodology</vt:lpstr>
      <vt:lpstr>Tools &amp; Technologies Used</vt:lpstr>
      <vt:lpstr>Implementation Details</vt:lpstr>
      <vt:lpstr>Implementation Details</vt:lpstr>
      <vt:lpstr>results and analysis</vt:lpstr>
      <vt:lpstr>results and analysis</vt:lpstr>
      <vt:lpstr>results and analysis</vt:lpstr>
      <vt:lpstr>results and analysis</vt:lpstr>
      <vt:lpstr>results and analysis</vt:lpstr>
      <vt:lpstr>Comparison: Existing vs Proposed System</vt:lpstr>
      <vt:lpstr>Applications of NeuroX</vt:lpstr>
      <vt:lpstr>Challenges Faced During NeuroX Development</vt:lpstr>
      <vt:lpstr>Conclusion</vt:lpstr>
      <vt:lpstr>Future Work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sai varhith</dc:creator>
  <cp:lastModifiedBy>sai varhith</cp:lastModifiedBy>
  <cp:revision>10</cp:revision>
  <dcterms:created xsi:type="dcterms:W3CDTF">2026-03-31T19:10:41Z</dcterms:created>
  <dcterms:modified xsi:type="dcterms:W3CDTF">2026-04-04T16:29:53Z</dcterms:modified>
</cp:coreProperties>
</file>