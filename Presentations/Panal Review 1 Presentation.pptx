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78" r:id="rId2"/>
    <p:sldId id="257" r:id="rId3"/>
    <p:sldId id="258" r:id="rId4"/>
    <p:sldId id="259" r:id="rId5"/>
    <p:sldId id="275" r:id="rId6"/>
    <p:sldId id="276" r:id="rId7"/>
    <p:sldId id="277" r:id="rId8"/>
    <p:sldId id="260" r:id="rId9"/>
    <p:sldId id="261" r:id="rId10"/>
    <p:sldId id="263" r:id="rId11"/>
    <p:sldId id="262" r:id="rId12"/>
    <p:sldId id="274" r:id="rId13"/>
    <p:sldId id="264" r:id="rId14"/>
    <p:sldId id="265" r:id="rId15"/>
    <p:sldId id="266" r:id="rId16"/>
    <p:sldId id="268" r:id="rId17"/>
    <p:sldId id="267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8D4"/>
    <a:srgbClr val="D9D6D0"/>
    <a:srgbClr val="E4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311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894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09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66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776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76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3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97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36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107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10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3B9BE-77FF-45A6-A1D0-1A695C5FDEC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BD69696-9938-4408-9E95-299E7EB3CA6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1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79C3-BA6A-A707-4D90-60278314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295" y="155590"/>
            <a:ext cx="10199647" cy="1614216"/>
          </a:xfrm>
        </p:spPr>
        <p:txBody>
          <a:bodyPr>
            <a:normAutofit/>
          </a:bodyPr>
          <a:lstStyle/>
          <a:p>
            <a:pPr algn="ctr"/>
            <a:r>
              <a:rPr lang="en-IN" sz="5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Neurox: 3D Neurological Brain Segmentation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78A97-30B3-8AB4-251F-8F81A3086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</a:p>
          <a:p>
            <a:pPr marL="742950" lvl="1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Jayaram 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Munta Sai Karthik – 22BCE5060</a:t>
            </a:r>
          </a:p>
          <a:p>
            <a:pPr marL="742950" lvl="1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Gotam Sai Varshith – 22BCE1605</a:t>
            </a:r>
          </a:p>
          <a:p>
            <a:pPr marL="742950" lvl="1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Manideep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Sandireddy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22BCE1434</a:t>
            </a:r>
          </a:p>
        </p:txBody>
      </p:sp>
    </p:spTree>
    <p:extLst>
      <p:ext uri="{BB962C8B-B14F-4D97-AF65-F5344CB8AC3E}">
        <p14:creationId xmlns:p14="http://schemas.microsoft.com/office/powerpoint/2010/main" val="241126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3FA8-F68A-1337-B907-BD5DA6B3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987" y="911886"/>
            <a:ext cx="10058400" cy="13716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01BEF-E2EB-9E9E-537C-15EB13B9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987" y="2136002"/>
            <a:ext cx="10058400" cy="3931920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brain MRIs is a complex and time-consuming process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AI systems typically focus on a single disease or a single task (e.g., classification or segmentation)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research emphasizes model development rather than end-to-end clinical systems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unified, interpretable, and disease-aware systems capable of performing multi-disease analysis on a single MRI scan.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often fail to preserve anatomical correctness while handling multiple diseases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360604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9537-2C22-F049-DE84-86157CE2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1F63C-E780-641C-735C-A32FC1DA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035397"/>
            <a:ext cx="9603275" cy="3450613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Problem Matters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Radiologists do not use separate AI models for each disease.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task assumptions (e.g., performing Alzheimer’s segmentation) can lead to misleading or clinically invalid outputs.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uncertainty estimation reduces trust and adoption of medical AI systems.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system that reflects real clinical reasoning rather than benchmark-only experimental setups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34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17960-2D12-E2D1-A879-2AD93B67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2DB6-21C0-AB14-2C61-462CE55E1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unified pipeline for multi-disease brain MRI analysis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disease-appropriate inference: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only (Alzheimer)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+ segmentation (Tumor, Stroke)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anatomical correctness during inference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interpretable outputs with uncertainty awareness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is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system-level correctness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SOTA accuracy claims.</a:t>
            </a:r>
          </a:p>
        </p:txBody>
      </p:sp>
    </p:spTree>
    <p:extLst>
      <p:ext uri="{BB962C8B-B14F-4D97-AF65-F5344CB8AC3E}">
        <p14:creationId xmlns:p14="http://schemas.microsoft.com/office/powerpoint/2010/main" val="3051209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E7BD-65AC-B2F5-C4A9-0F4CCA4C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079"/>
            <a:ext cx="9603275" cy="1049235"/>
          </a:xfrm>
        </p:spPr>
        <p:txBody>
          <a:bodyPr/>
          <a:lstStyle/>
          <a:p>
            <a:r>
              <a:rPr lang="en-IN" dirty="0"/>
              <a:t>Literature Review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97BC17-A437-916C-BC03-E5D88937E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577558"/>
              </p:ext>
            </p:extLst>
          </p:nvPr>
        </p:nvGraphicFramePr>
        <p:xfrm>
          <a:off x="0" y="914778"/>
          <a:ext cx="12192000" cy="5943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64950817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0501562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17530343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2211349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00914665"/>
                    </a:ext>
                  </a:extLst>
                </a:gridCol>
              </a:tblGrid>
              <a:tr h="790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Year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Strength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Drawback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376639"/>
                  </a:ext>
                </a:extLst>
              </a:tr>
              <a:tr h="1088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TransBTS: Multimodal Brain Tumor Segmentation Using Transformer (2021)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CNN + Transformer encoder–decoder for tumor segmentation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integration of Transformer for 3D MRI segmentation capturing local + global features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modality fusion strategy; high computation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better multi-modal fusion &amp; uncertainty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42546"/>
                  </a:ext>
                </a:extLst>
              </a:tr>
              <a:tr h="1088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CKD-TransBTS: Clinical Knowledge Fusion (2022)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Transformer + CNN with modality-correlated cross-attention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multi-modal feature extraction respecting radiological signals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heavy architecture; limited uncertainty modeling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Haven’t extended to multi-disease tasks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018044"/>
                  </a:ext>
                </a:extLst>
              </a:tr>
              <a:tr h="1088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Multi-encoder nnU-Net with Self-Supervised Pretraining (2025)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Multi-encoder CNN with modality-specific encoders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missing modalities &amp; improves segmentation feat capture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transform-based global context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modality separation without Transformers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533225"/>
                  </a:ext>
                </a:extLst>
              </a:tr>
              <a:tr h="1088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MMAformer: Multiscale Modality-Aware Transformer (2024)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Multiscale transformer with cross-modal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complementary features across MRI modalities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 benchmark comparisons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context fusion still underexplored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598199"/>
                  </a:ext>
                </a:extLst>
              </a:tr>
              <a:tr h="7966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ResMT: CNN + Swin UNETR for Glioma Grading (2024)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3D CNN + pre-trained Swin UNETR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segmentation + grading; strong AUC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pretrained segmentation increases computation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true segmentation + diagnosis integration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454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90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B768E-C234-4460-62BE-6D248D634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3346-DACD-B443-F67E-1D8F861C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5254"/>
            <a:ext cx="9603275" cy="1049235"/>
          </a:xfrm>
        </p:spPr>
        <p:txBody>
          <a:bodyPr/>
          <a:lstStyle/>
          <a:p>
            <a:r>
              <a:rPr lang="en-IN" dirty="0"/>
              <a:t>Literature Review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4526B7-C46A-8EE6-D90A-4F0E8DFF75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617353"/>
              </p:ext>
            </p:extLst>
          </p:nvPr>
        </p:nvGraphicFramePr>
        <p:xfrm>
          <a:off x="0" y="699871"/>
          <a:ext cx="12192000" cy="6158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64950817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3958960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17530343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2211349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00914665"/>
                    </a:ext>
                  </a:extLst>
                </a:gridCol>
              </a:tblGrid>
              <a:tr h="804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Year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Strength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Drawback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376639"/>
                  </a:ext>
                </a:extLst>
              </a:tr>
              <a:tr h="12291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Brain Tumor Segmentation With SegFormer (2025)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segmentation model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boundary delineation with transformer spatial attention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multi-modal integration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 of scale trade-offs missing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42546"/>
                  </a:ext>
                </a:extLst>
              </a:tr>
              <a:tr h="11069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Transformers in Multi-Modal Brain Tumor MRI (2023)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CNN &amp; ViT models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Summarizes transformer trends in segmentation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propose new method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gap behind multi-task inference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018044"/>
                  </a:ext>
                </a:extLst>
              </a:tr>
              <a:tr h="11069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MM-MSCA-AF Multi-Modal MRI Tumor Segmentation (2025)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Multi-scale contextual attention fusion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multi-modal contextual integration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to multi-modal fusion only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evaluating uncertainty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533225"/>
                  </a:ext>
                </a:extLst>
              </a:tr>
              <a:tr h="11069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Ranjbarzadeh et al. (2021) Attention-Mechanism CNN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Cascade CNN with attention and preprocessing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segmentation with reduced overfitting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 still high; no global context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transformer or uncertainty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598199"/>
                  </a:ext>
                </a:extLst>
              </a:tr>
              <a:tr h="804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UALE: Ultra-Lightweight Ensemble (2025)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Uncertainty-aware ensemble CNN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quantified with lightweight design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highly accurate vs state-of-art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segmentation per disease type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454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663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2885-36CB-7A1C-92B6-8856B40A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9771-1124-6A4F-79ED-EA2C9317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596"/>
            <a:ext cx="9603275" cy="1049235"/>
          </a:xfrm>
        </p:spPr>
        <p:txBody>
          <a:bodyPr/>
          <a:lstStyle/>
          <a:p>
            <a:r>
              <a:rPr lang="en-IN" dirty="0"/>
              <a:t>Literature Review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9A672B-29BC-015F-36B8-5F97E12A9E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349988"/>
              </p:ext>
            </p:extLst>
          </p:nvPr>
        </p:nvGraphicFramePr>
        <p:xfrm>
          <a:off x="0" y="621212"/>
          <a:ext cx="12192000" cy="6236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64950817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3850621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17530343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2211349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00914665"/>
                    </a:ext>
                  </a:extLst>
                </a:gridCol>
              </a:tblGrid>
              <a:tr h="8145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Year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Strength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Drawback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376639"/>
                  </a:ext>
                </a:extLst>
              </a:tr>
              <a:tr h="1121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Abidin et al. (2024) Review of DL-based MRI Tumor Segmentation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analyzing models and trends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overview of CNN/ViT hybrid models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new method proposed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Utility of uncertainty, multi-task missing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42546"/>
                  </a:ext>
                </a:extLst>
              </a:tr>
              <a:tr h="1121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Alsubaie (2024) Alzheimer DL Review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on AD detection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Summarizes deep methods &amp; data issues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compare segmentation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Gap: multi-disease integration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018044"/>
                  </a:ext>
                </a:extLst>
              </a:tr>
              <a:tr h="1121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Herman Herzog (2020) Unknown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integration exploration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Discusses integrating uncertainty into DL models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full research paper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modeling is still evolving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533225"/>
                  </a:ext>
                </a:extLst>
              </a:tr>
              <a:tr h="1121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nnFormer: Volumetric Medical Image Segmentation (2023)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volumetric segmentation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performance in 3D context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Heavy computation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evaluated for multi-disease inference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598199"/>
                  </a:ext>
                </a:extLst>
              </a:tr>
              <a:tr h="9363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TransUNet (2021) Transformers for Medical Segmentation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CNN-Transformer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at global context + spatial details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directly for MRI tumor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include uncertainty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454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445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6030-21CD-34B6-EE36-6118C4AE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14D82-F6F2-BF82-1712-35D5A360D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Gaps in Existing Work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multi-disease inference pipeline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disease-aware task separation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anatomical consistency in visualization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uncertainty-aware outputs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end-to-end interpretable systems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gaps motivated the proposed system design.</a:t>
            </a:r>
          </a:p>
        </p:txBody>
      </p:sp>
    </p:spTree>
    <p:extLst>
      <p:ext uri="{BB962C8B-B14F-4D97-AF65-F5344CB8AC3E}">
        <p14:creationId xmlns:p14="http://schemas.microsoft.com/office/powerpoint/2010/main" val="2717010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8323-634E-B72E-2410-8FB20B96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94B7-5847-EE0B-2F26-8FA0E6896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Brain MRI (NIfTI format)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presence probabilities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Lesion segmentation (where applicable)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estimates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lesion metrics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2D/3D visualization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report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focus is interpretability and correctness, not automation claims.</a:t>
            </a:r>
          </a:p>
        </p:txBody>
      </p:sp>
    </p:spTree>
    <p:extLst>
      <p:ext uri="{BB962C8B-B14F-4D97-AF65-F5344CB8AC3E}">
        <p14:creationId xmlns:p14="http://schemas.microsoft.com/office/powerpoint/2010/main" val="139922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26209-BE38-9115-139A-F55A0B68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44230B-CCE9-ADD0-E4F2-E81E998A0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266" y="-14567"/>
            <a:ext cx="6990734" cy="6877758"/>
          </a:xfrm>
        </p:spPr>
      </p:pic>
    </p:spTree>
    <p:extLst>
      <p:ext uri="{BB962C8B-B14F-4D97-AF65-F5344CB8AC3E}">
        <p14:creationId xmlns:p14="http://schemas.microsoft.com/office/powerpoint/2010/main" val="342611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E958-B3F2-D527-E999-0009F0B7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FC52B-D1A5-0BB1-61C0-98A03DC9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b="1" dirty="0"/>
              <a:t>Architecture Highlights</a:t>
            </a:r>
          </a:p>
          <a:p>
            <a:r>
              <a:rPr lang="en-US" sz="3200" dirty="0"/>
              <a:t>Modular design</a:t>
            </a:r>
          </a:p>
          <a:p>
            <a:r>
              <a:rPr lang="en-US" sz="3200" dirty="0"/>
              <a:t>Shared feature encoder</a:t>
            </a:r>
          </a:p>
          <a:p>
            <a:r>
              <a:rPr lang="en-US" sz="3200" dirty="0"/>
              <a:t>Transformer bottleneck for global context</a:t>
            </a:r>
          </a:p>
          <a:p>
            <a:r>
              <a:rPr lang="en-US" sz="3200" dirty="0"/>
              <a:t>Disease-specific heads</a:t>
            </a:r>
          </a:p>
          <a:p>
            <a:r>
              <a:rPr lang="en-US" sz="3200" dirty="0"/>
              <a:t>Independent post-processing and visualization modules</a:t>
            </a:r>
          </a:p>
          <a:p>
            <a:pPr marL="0" indent="0">
              <a:buNone/>
            </a:pPr>
            <a:r>
              <a:rPr lang="en-US" sz="3200" dirty="0"/>
              <a:t>Architecture prioritizes clarity and extensibility.</a:t>
            </a:r>
          </a:p>
        </p:txBody>
      </p:sp>
    </p:spTree>
    <p:extLst>
      <p:ext uri="{BB962C8B-B14F-4D97-AF65-F5344CB8AC3E}">
        <p14:creationId xmlns:p14="http://schemas.microsoft.com/office/powerpoint/2010/main" val="2630339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51971-9411-C878-9AA6-DD51DFFA0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2854-F132-E95D-F764-5B5363BD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6261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50AF43F-7051-6387-FA94-3F5501398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" y="1165496"/>
            <a:ext cx="12083845" cy="5009744"/>
          </a:xfrm>
        </p:spPr>
      </p:pic>
    </p:spTree>
    <p:extLst>
      <p:ext uri="{BB962C8B-B14F-4D97-AF65-F5344CB8AC3E}">
        <p14:creationId xmlns:p14="http://schemas.microsoft.com/office/powerpoint/2010/main" val="234651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0F84-A48A-C326-8B90-743BC4B4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46EE8-C8D9-95AE-E016-ACC1F9C92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3D CNN Encoder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Bottleneck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Presence Heads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Decoders (Tumor, Stroke)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Monte-Carlo Dropout for uncertainty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Disease-Aware Design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 → Presence only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/ Stroke → Presence + Segmentation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avoids methodological misuse of datasets.</a:t>
            </a:r>
          </a:p>
        </p:txBody>
      </p:sp>
    </p:spTree>
    <p:extLst>
      <p:ext uri="{BB962C8B-B14F-4D97-AF65-F5344CB8AC3E}">
        <p14:creationId xmlns:p14="http://schemas.microsoft.com/office/powerpoint/2010/main" val="4042172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AFEA-535D-E517-A4C1-23CBBD3B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020828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/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B9195-AAE8-8942-A88C-FA710C31D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719618" cy="43275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Workflow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upload &amp; validation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ROI extraction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detection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estimation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segmentation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Anatomical post-processing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Patient-space reconstruction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reporting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step is deterministic and traceable.</a:t>
            </a:r>
          </a:p>
        </p:txBody>
      </p:sp>
    </p:spTree>
    <p:extLst>
      <p:ext uri="{BB962C8B-B14F-4D97-AF65-F5344CB8AC3E}">
        <p14:creationId xmlns:p14="http://schemas.microsoft.com/office/powerpoint/2010/main" val="2145438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11BC-2376-AF28-10AE-367CE24C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421" y="0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/ SEQUENCE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466397-6A4C-DDF3-80AD-93DB07092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1445"/>
            <a:ext cx="12191999" cy="6356555"/>
          </a:xfrm>
        </p:spPr>
      </p:pic>
    </p:spTree>
    <p:extLst>
      <p:ext uri="{BB962C8B-B14F-4D97-AF65-F5344CB8AC3E}">
        <p14:creationId xmlns:p14="http://schemas.microsoft.com/office/powerpoint/2010/main" val="2964629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C0D3-18A2-491B-168B-EF9B20D3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CE32-52E7-22BB-8DF4-5776DC99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/ SEQUENCE DIAGRAM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56B78-8473-65B4-A8FE-1065E3BA8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/>
              <a:t>Purpose</a:t>
            </a:r>
          </a:p>
          <a:p>
            <a:r>
              <a:rPr lang="en-US" sz="2800" dirty="0"/>
              <a:t>Shows interaction between:</a:t>
            </a:r>
          </a:p>
          <a:p>
            <a:pPr lvl="1"/>
            <a:r>
              <a:rPr lang="en-US" sz="2400" dirty="0"/>
              <a:t>User</a:t>
            </a:r>
          </a:p>
          <a:p>
            <a:pPr lvl="1"/>
            <a:r>
              <a:rPr lang="en-US" sz="2400" dirty="0"/>
              <a:t>UI</a:t>
            </a:r>
          </a:p>
          <a:p>
            <a:pPr lvl="1"/>
            <a:r>
              <a:rPr lang="en-US" sz="2400" dirty="0"/>
              <a:t>Inference pipeline</a:t>
            </a:r>
          </a:p>
          <a:p>
            <a:pPr lvl="1"/>
            <a:r>
              <a:rPr lang="en-US" sz="2400" dirty="0"/>
              <a:t>Model</a:t>
            </a:r>
          </a:p>
          <a:p>
            <a:pPr lvl="1"/>
            <a:r>
              <a:rPr lang="en-US" sz="2400" dirty="0"/>
              <a:t>Visualization &amp; reporting</a:t>
            </a:r>
          </a:p>
          <a:p>
            <a:pPr marL="0" indent="0">
              <a:buNone/>
            </a:pPr>
            <a:r>
              <a:rPr lang="en-US" sz="2800" dirty="0"/>
              <a:t>Demonstrates system-level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3736124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8C5B-3495-2794-55A4-E0F5B33F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83B9-C4CD-28A3-0C47-0DA5A6BC3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93685"/>
            <a:ext cx="4957914" cy="364913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Technical Feasibility</a:t>
            </a:r>
          </a:p>
          <a:p>
            <a:r>
              <a:rPr lang="en-US" dirty="0"/>
              <a:t>Uses established deep learning architectures</a:t>
            </a:r>
          </a:p>
          <a:p>
            <a:r>
              <a:rPr lang="en-US" dirty="0"/>
              <a:t>Supported by existing frameworks</a:t>
            </a:r>
          </a:p>
          <a:p>
            <a:pPr marL="0" indent="0">
              <a:buNone/>
            </a:pPr>
            <a:r>
              <a:rPr lang="en-US" b="1" dirty="0"/>
              <a:t>Data Feasibility</a:t>
            </a:r>
          </a:p>
          <a:p>
            <a:r>
              <a:rPr lang="en-US" dirty="0"/>
              <a:t>Public datasets: BraTS, ISLES, ADNI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011C08-CB53-7819-C034-42FAEA7ED93D}"/>
              </a:ext>
            </a:extLst>
          </p:cNvPr>
          <p:cNvSpPr txBox="1">
            <a:spLocks/>
          </p:cNvSpPr>
          <p:nvPr/>
        </p:nvSpPr>
        <p:spPr>
          <a:xfrm>
            <a:off x="6409493" y="1853754"/>
            <a:ext cx="4957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Computational Feasibility</a:t>
            </a:r>
          </a:p>
          <a:p>
            <a:r>
              <a:rPr lang="en-US" dirty="0"/>
              <a:t>ROI-based inference</a:t>
            </a:r>
          </a:p>
          <a:p>
            <a:r>
              <a:rPr lang="en-US" dirty="0"/>
              <a:t>Conditional execution</a:t>
            </a:r>
          </a:p>
          <a:p>
            <a:pPr marL="0" indent="0">
              <a:buNone/>
            </a:pPr>
            <a:r>
              <a:rPr lang="en-US" b="1" dirty="0"/>
              <a:t>Operational Feasibility</a:t>
            </a:r>
          </a:p>
          <a:p>
            <a:r>
              <a:rPr lang="en-US" dirty="0"/>
              <a:t>Streamlit UI</a:t>
            </a:r>
          </a:p>
          <a:p>
            <a:r>
              <a:rPr lang="en-US" dirty="0"/>
              <a:t>Local or server deployment</a:t>
            </a:r>
          </a:p>
          <a:p>
            <a:pPr marL="0" indent="0">
              <a:buNone/>
            </a:pPr>
            <a:r>
              <a:rPr lang="en-US" dirty="0"/>
              <a:t>Feasible within academic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37462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37A3-B034-02BE-10E6-F277CAC53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93875-221E-120D-0558-82CDBBDC1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/>
              <a:t>Demonstrated Outputs</a:t>
            </a:r>
          </a:p>
          <a:p>
            <a:r>
              <a:rPr lang="en-IN" sz="2400" dirty="0"/>
              <a:t>Disease presence probabilities</a:t>
            </a:r>
          </a:p>
          <a:p>
            <a:r>
              <a:rPr lang="en-IN" sz="2400" dirty="0"/>
              <a:t>Uncertainty estimates</a:t>
            </a:r>
          </a:p>
          <a:p>
            <a:r>
              <a:rPr lang="en-IN" sz="2400" dirty="0"/>
              <a:t>Segmentation masks</a:t>
            </a:r>
          </a:p>
          <a:p>
            <a:r>
              <a:rPr lang="en-IN" sz="2400" dirty="0"/>
              <a:t>3D anatomical visualization</a:t>
            </a:r>
          </a:p>
          <a:p>
            <a:r>
              <a:rPr lang="en-IN" sz="2400" dirty="0"/>
              <a:t>PDF report</a:t>
            </a:r>
          </a:p>
          <a:p>
            <a:pPr marL="0" indent="0">
              <a:buNone/>
            </a:pPr>
            <a:r>
              <a:rPr lang="en-IN" sz="2400" dirty="0"/>
              <a:t>Qualitative results shown; no inflated metric claims.</a:t>
            </a:r>
          </a:p>
        </p:txBody>
      </p:sp>
    </p:spTree>
    <p:extLst>
      <p:ext uri="{BB962C8B-B14F-4D97-AF65-F5344CB8AC3E}">
        <p14:creationId xmlns:p14="http://schemas.microsoft.com/office/powerpoint/2010/main" val="3161460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BB6F-2C2C-5D33-17E3-D64EF8AF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&amp;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8E957-678A-D8AA-DADF-27C04B43D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Contributions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Disease-aware multi-task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execution pipeline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Anatomically consistent patient-space reconstruction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interpretable system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lies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model invention.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NOT claimed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new neural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benchmark superiority claims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809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38F8-494A-236C-F839-760A4EAD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502C8-AAC8-00C5-5828-78F21DECE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large-scale benchmarking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clinical validation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training data quality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limitations are explicitly acknowledged.</a:t>
            </a:r>
          </a:p>
        </p:txBody>
      </p:sp>
    </p:spTree>
    <p:extLst>
      <p:ext uri="{BB962C8B-B14F-4D97-AF65-F5344CB8AC3E}">
        <p14:creationId xmlns:p14="http://schemas.microsoft.com/office/powerpoint/2010/main" val="2143324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5657-73B1-01D7-B604-2C534582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D08A1-A3EB-8F66-6A2B-FD15EF682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Planned Extensions</a:t>
            </a:r>
          </a:p>
          <a:p>
            <a:r>
              <a:rPr lang="en-US" sz="2400" dirty="0"/>
              <a:t>Quantitative benchmarking</a:t>
            </a:r>
          </a:p>
          <a:p>
            <a:r>
              <a:rPr lang="en-US" sz="2400" dirty="0"/>
              <a:t>Additional neurological conditions</a:t>
            </a:r>
          </a:p>
          <a:p>
            <a:r>
              <a:rPr lang="en-US" sz="2400" dirty="0"/>
              <a:t>Improved uncertainty calibration</a:t>
            </a:r>
          </a:p>
          <a:p>
            <a:r>
              <a:rPr lang="en-US" sz="2400" dirty="0"/>
              <a:t>Dataset expansion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69587646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104</TotalTime>
  <Words>1076</Words>
  <Application>Microsoft Office PowerPoint</Application>
  <PresentationFormat>Widescreen</PresentationFormat>
  <Paragraphs>228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Gill Sans MT</vt:lpstr>
      <vt:lpstr>Times New Roman</vt:lpstr>
      <vt:lpstr>Gallery</vt:lpstr>
      <vt:lpstr>Neurox: 3D Neurological Brain Segmentation</vt:lpstr>
      <vt:lpstr>PROBLEM STATEMENT</vt:lpstr>
      <vt:lpstr>MOTIVATION</vt:lpstr>
      <vt:lpstr>OBJECTIVES</vt:lpstr>
      <vt:lpstr>Literature Review </vt:lpstr>
      <vt:lpstr>Literature Review </vt:lpstr>
      <vt:lpstr>Literature Review </vt:lpstr>
      <vt:lpstr>IDENTIFIED RESEARCH GAPS</vt:lpstr>
      <vt:lpstr>PROPOSED SYSTEM OVERVIEW</vt:lpstr>
      <vt:lpstr>SYSTEM ARCHITECTURE</vt:lpstr>
      <vt:lpstr>SYSTEM ARCHITECTURE</vt:lpstr>
      <vt:lpstr>MODEL ARCHITECTURE</vt:lpstr>
      <vt:lpstr>MODEL ARCHITECTURE</vt:lpstr>
      <vt:lpstr>WORKFLOW / ALGORITHM</vt:lpstr>
      <vt:lpstr>UML / SEQUENCE DIAGRAM</vt:lpstr>
      <vt:lpstr>UML / SEQUENCE DIAGRAM</vt:lpstr>
      <vt:lpstr>FEASIBILITY ANALYSIS</vt:lpstr>
      <vt:lpstr>RESULTS &amp; OUTPUTS</vt:lpstr>
      <vt:lpstr>NOVELTY &amp; CONTRIBUTIONS</vt:lpstr>
      <vt:lpstr>LIMITATIONS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varhith</dc:creator>
  <cp:lastModifiedBy>sai varhith</cp:lastModifiedBy>
  <cp:revision>4</cp:revision>
  <dcterms:created xsi:type="dcterms:W3CDTF">2026-01-26T09:01:49Z</dcterms:created>
  <dcterms:modified xsi:type="dcterms:W3CDTF">2026-01-29T05:43:59Z</dcterms:modified>
</cp:coreProperties>
</file>