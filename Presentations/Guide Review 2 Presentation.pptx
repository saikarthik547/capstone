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71" r:id="rId2"/>
    <p:sldId id="277" r:id="rId3"/>
    <p:sldId id="257" r:id="rId4"/>
    <p:sldId id="258" r:id="rId5"/>
    <p:sldId id="259" r:id="rId6"/>
    <p:sldId id="260" r:id="rId7"/>
    <p:sldId id="272" r:id="rId8"/>
    <p:sldId id="273" r:id="rId9"/>
    <p:sldId id="274" r:id="rId10"/>
    <p:sldId id="275" r:id="rId11"/>
    <p:sldId id="276" r:id="rId12"/>
    <p:sldId id="261" r:id="rId13"/>
    <p:sldId id="262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86" r:id="rId30"/>
    <p:sldId id="287" r:id="rId31"/>
    <p:sldId id="288" r:id="rId3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267" y="2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CDB545-926E-4507-8034-F750A4EF7484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9131D-F2B5-4526-8A1F-C2E6292DA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56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131D-F2B5-4526-8A1F-C2E6292DA55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198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131D-F2B5-4526-8A1F-C2E6292DA55E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668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CDA201-E14D-F5C3-87B1-15E825E3D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455" y="0"/>
            <a:ext cx="8241545" cy="914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608390-6592-D160-457E-DB7F3C3BA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" y="380999"/>
            <a:ext cx="6553200" cy="46456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54B0D1-FC6E-C807-5320-E3D7FE910BCB}"/>
              </a:ext>
            </a:extLst>
          </p:cNvPr>
          <p:cNvSpPr txBox="1"/>
          <p:nvPr/>
        </p:nvSpPr>
        <p:spPr>
          <a:xfrm>
            <a:off x="508000" y="5257800"/>
            <a:ext cx="5715000" cy="266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/>
              <a:t>Team Members: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/>
              <a:t>Sandireddy Manideep (22BCE1434)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/>
              <a:t>Munta Sai Karthik (22BCE5060)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/>
              <a:t>Gotam Sai Varshith (22BCE1605)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sz="2800" b="1" dirty="0"/>
              <a:t>Guide Name: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/>
              <a:t>Dr. Jayaram B</a:t>
            </a:r>
          </a:p>
        </p:txBody>
      </p:sp>
    </p:spTree>
    <p:extLst>
      <p:ext uri="{BB962C8B-B14F-4D97-AF65-F5344CB8AC3E}">
        <p14:creationId xmlns:p14="http://schemas.microsoft.com/office/powerpoint/2010/main" val="3352811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8CF05-F705-B71F-6168-CC37C361A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1A730A-E79F-59D6-7433-BAB995BE2DB9}"/>
              </a:ext>
            </a:extLst>
          </p:cNvPr>
          <p:cNvSpPr txBox="1"/>
          <p:nvPr/>
        </p:nvSpPr>
        <p:spPr>
          <a:xfrm>
            <a:off x="203200" y="228600"/>
            <a:ext cx="15392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dirty="0">
                <a:solidFill>
                  <a:srgbClr val="002060"/>
                </a:solidFill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AD6BE4-17C6-94D2-AF35-BABE1D0A77D5}"/>
              </a:ext>
            </a:extLst>
          </p:cNvPr>
          <p:cNvSpPr txBox="1"/>
          <p:nvPr/>
        </p:nvSpPr>
        <p:spPr>
          <a:xfrm>
            <a:off x="203200" y="1182410"/>
            <a:ext cx="15621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Current Diagnostic Bottleneck</a:t>
            </a:r>
            <a:r>
              <a:rPr lang="en-US" sz="2800" dirty="0"/>
              <a:t>: Modern medical imaging, such as MRI and CT, produces massive 3D volumetric datasets (NIfTI) that require exhaustive manual review by radiologists, leading to potential diagnostic fatigue and delays.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The Problem of "Siloed" AI</a:t>
            </a:r>
            <a:r>
              <a:rPr lang="en-US" sz="2800" dirty="0"/>
              <a:t>: Existing Computer-Aided Diagnosis (CAD) tools are typically task-specific, meaning a clinician must run separate models for tumor detection, stroke analysis, and neurodegeneration (Alzheimer’s).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The Need for Volumetric Context</a:t>
            </a:r>
            <a:r>
              <a:rPr lang="en-US" sz="2800" dirty="0"/>
              <a:t>: Standard 2D slice-by-slice analysis often fails to capture the global structural symmetry and long-range anatomical relationships necessary for early-stage pathology detection.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35942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00AA671-293A-82EF-9EED-49E6C5DE6915}"/>
              </a:ext>
            </a:extLst>
          </p:cNvPr>
          <p:cNvSpPr/>
          <p:nvPr/>
        </p:nvSpPr>
        <p:spPr>
          <a:xfrm>
            <a:off x="14986000" y="8839200"/>
            <a:ext cx="1270000" cy="266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CB7122-1A88-5D7E-C8DC-398738CFA476}"/>
              </a:ext>
            </a:extLst>
          </p:cNvPr>
          <p:cNvSpPr/>
          <p:nvPr/>
        </p:nvSpPr>
        <p:spPr>
          <a:xfrm>
            <a:off x="14986000" y="8839200"/>
            <a:ext cx="1270000" cy="266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229C2C5-FCBE-597E-0805-7EAABF28C20F}"/>
              </a:ext>
            </a:extLst>
          </p:cNvPr>
          <p:cNvSpPr/>
          <p:nvPr/>
        </p:nvSpPr>
        <p:spPr>
          <a:xfrm>
            <a:off x="14986000" y="8839200"/>
            <a:ext cx="1270000" cy="266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5B9F721-8D32-51B2-4C7B-7988FA370223}"/>
              </a:ext>
            </a:extLst>
          </p:cNvPr>
          <p:cNvSpPr/>
          <p:nvPr/>
        </p:nvSpPr>
        <p:spPr>
          <a:xfrm>
            <a:off x="14986000" y="8839200"/>
            <a:ext cx="1270000" cy="266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F1DEC4-6849-91AF-7470-C3A6E9F973E1}"/>
              </a:ext>
            </a:extLst>
          </p:cNvPr>
          <p:cNvSpPr/>
          <p:nvPr/>
        </p:nvSpPr>
        <p:spPr>
          <a:xfrm>
            <a:off x="15138400" y="8991600"/>
            <a:ext cx="1270000" cy="266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6F7535-F50F-34DB-4054-CF22F1150413}"/>
              </a:ext>
            </a:extLst>
          </p:cNvPr>
          <p:cNvSpPr txBox="1"/>
          <p:nvPr/>
        </p:nvSpPr>
        <p:spPr>
          <a:xfrm>
            <a:off x="203200" y="228600"/>
            <a:ext cx="15392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dirty="0">
                <a:solidFill>
                  <a:srgbClr val="002060"/>
                </a:solidFill>
              </a:rPr>
              <a:t>NeuroX Adaptive: Global Functional Architecture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767D44-87B0-4C8E-32DF-C61219DEE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500" y="1158943"/>
            <a:ext cx="9067800" cy="775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209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CC094-1300-9CCB-E07C-6C09B4EB3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E7D518-C8EC-7EC5-659E-81D1C7A7F754}"/>
              </a:ext>
            </a:extLst>
          </p:cNvPr>
          <p:cNvSpPr txBox="1"/>
          <p:nvPr/>
        </p:nvSpPr>
        <p:spPr>
          <a:xfrm>
            <a:off x="203200" y="228600"/>
            <a:ext cx="15392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dirty="0">
                <a:solidFill>
                  <a:srgbClr val="002060"/>
                </a:solidFill>
              </a:rPr>
              <a:t>NeuroX Adaptive: Architecture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E8CEA8-4E5B-5888-22E2-E0B071C8F3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9800"/>
            <a:ext cx="162560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181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117E3-295B-7ED6-AE84-96F057048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28BAD9-1312-69D9-D4BB-1D78A4EDA4E2}"/>
              </a:ext>
            </a:extLst>
          </p:cNvPr>
          <p:cNvSpPr txBox="1"/>
          <p:nvPr/>
        </p:nvSpPr>
        <p:spPr>
          <a:xfrm>
            <a:off x="203200" y="228600"/>
            <a:ext cx="15392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dirty="0">
                <a:solidFill>
                  <a:srgbClr val="002060"/>
                </a:solidFill>
              </a:rPr>
              <a:t>NeuroX Adaptive: Flow Chat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A5E8A8-AE80-3334-1BE3-B0D880FB04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60" y="2057400"/>
            <a:ext cx="16256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730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8C918-A93F-00AF-E8F2-69C3298A8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BDC4B0-6E0B-0188-DCBD-575C62C6F877}"/>
              </a:ext>
            </a:extLst>
          </p:cNvPr>
          <p:cNvSpPr txBox="1"/>
          <p:nvPr/>
        </p:nvSpPr>
        <p:spPr>
          <a:xfrm>
            <a:off x="272897" y="3740557"/>
            <a:ext cx="8001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dirty="0">
                <a:solidFill>
                  <a:srgbClr val="002060"/>
                </a:solidFill>
              </a:rPr>
              <a:t>NeuroX Adaptive: Modal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EF7676-EB5D-3888-4817-8FBDDCD382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897" y="45720"/>
            <a:ext cx="7982103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09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D5524-BA7F-F3D6-687B-0DE7AF4A5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33CD4F-8767-0A89-8120-2CDDDF8C3F08}"/>
              </a:ext>
            </a:extLst>
          </p:cNvPr>
          <p:cNvSpPr txBox="1"/>
          <p:nvPr/>
        </p:nvSpPr>
        <p:spPr>
          <a:xfrm>
            <a:off x="272897" y="3740557"/>
            <a:ext cx="8001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dirty="0">
                <a:solidFill>
                  <a:srgbClr val="002060"/>
                </a:solidFill>
              </a:rPr>
              <a:t>NeuroX Adaptive: Data Flow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FC48C0-2ED3-69E2-C670-2F13F8B8DC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984" y="45720"/>
            <a:ext cx="7672016" cy="909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432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0F1338-2F66-3025-55CE-A77E30959D2C}"/>
              </a:ext>
            </a:extLst>
          </p:cNvPr>
          <p:cNvSpPr/>
          <p:nvPr/>
        </p:nvSpPr>
        <p:spPr>
          <a:xfrm>
            <a:off x="14986000" y="8839200"/>
            <a:ext cx="1270000" cy="266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47467A-5F76-2A9B-EBC1-AA97B478B5D8}"/>
              </a:ext>
            </a:extLst>
          </p:cNvPr>
          <p:cNvSpPr/>
          <p:nvPr/>
        </p:nvSpPr>
        <p:spPr>
          <a:xfrm>
            <a:off x="14986000" y="8839200"/>
            <a:ext cx="1270000" cy="266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3CFAFC-19EF-F324-7871-4427E9C4A46A}"/>
              </a:ext>
            </a:extLst>
          </p:cNvPr>
          <p:cNvSpPr txBox="1"/>
          <p:nvPr/>
        </p:nvSpPr>
        <p:spPr>
          <a:xfrm>
            <a:off x="355600" y="228600"/>
            <a:ext cx="24922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</a:rPr>
              <a:t>Result: </a:t>
            </a:r>
            <a:endParaRPr lang="en-IN" sz="6000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188107-45B2-F84A-7AC9-30426F4AD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14437"/>
            <a:ext cx="15240000" cy="671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840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CC3CF-F625-822A-CF9E-3C295F9D3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7CDDE3-41A4-87DB-17CF-34CBDD522DA5}"/>
              </a:ext>
            </a:extLst>
          </p:cNvPr>
          <p:cNvSpPr txBox="1"/>
          <p:nvPr/>
        </p:nvSpPr>
        <p:spPr>
          <a:xfrm>
            <a:off x="355600" y="228600"/>
            <a:ext cx="24922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</a:rPr>
              <a:t>Result: </a:t>
            </a:r>
            <a:endParaRPr lang="en-IN" sz="6000" dirty="0">
              <a:solidFill>
                <a:srgbClr val="00206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EF74F9-2370-595F-30AC-E9021D584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1371600"/>
            <a:ext cx="14478000" cy="731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207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F092E-60A2-4BF0-2244-371485D15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821F4C-C9D9-6FD5-7C11-83D797080CB3}"/>
              </a:ext>
            </a:extLst>
          </p:cNvPr>
          <p:cNvSpPr txBox="1"/>
          <p:nvPr/>
        </p:nvSpPr>
        <p:spPr>
          <a:xfrm>
            <a:off x="355600" y="228600"/>
            <a:ext cx="24922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</a:rPr>
              <a:t>Result: </a:t>
            </a:r>
            <a:endParaRPr lang="en-IN" sz="6000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C75D89-EAAB-0833-256F-5C0D7F164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44263"/>
            <a:ext cx="15240000" cy="71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989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49AAE-CFF0-C921-B9C5-73DF5BD7F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D07E8D-7F80-00EB-25F8-7D6C62F0403B}"/>
              </a:ext>
            </a:extLst>
          </p:cNvPr>
          <p:cNvSpPr txBox="1"/>
          <p:nvPr/>
        </p:nvSpPr>
        <p:spPr>
          <a:xfrm>
            <a:off x="355600" y="228600"/>
            <a:ext cx="24922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</a:rPr>
              <a:t>Result: </a:t>
            </a:r>
            <a:endParaRPr lang="en-IN" sz="6000" dirty="0">
              <a:solidFill>
                <a:srgbClr val="00206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361FA8-4D26-3D43-AF84-613D192D4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371600"/>
            <a:ext cx="15240000" cy="725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457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82C42-9E89-5C06-6ED6-99F194A6A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E17CD0-5202-9016-1CC2-6972FD7DDD90}"/>
              </a:ext>
            </a:extLst>
          </p:cNvPr>
          <p:cNvSpPr txBox="1"/>
          <p:nvPr/>
        </p:nvSpPr>
        <p:spPr>
          <a:xfrm>
            <a:off x="355600" y="228600"/>
            <a:ext cx="24922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</a:rPr>
              <a:t>Result: </a:t>
            </a:r>
            <a:endParaRPr lang="en-IN" sz="6000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0018C1-0706-1D5F-41EC-620C7849C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2357437"/>
            <a:ext cx="1524000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898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A9AB0-9628-A943-7C3B-BB5916CF9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6D1916-5129-EB88-5932-97A6BC3E877A}"/>
              </a:ext>
            </a:extLst>
          </p:cNvPr>
          <p:cNvSpPr txBox="1"/>
          <p:nvPr/>
        </p:nvSpPr>
        <p:spPr>
          <a:xfrm>
            <a:off x="355600" y="228600"/>
            <a:ext cx="24922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</a:rPr>
              <a:t>Result: </a:t>
            </a:r>
            <a:endParaRPr lang="en-IN" sz="6000" dirty="0">
              <a:solidFill>
                <a:srgbClr val="00206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3BC21B-1233-03D4-B058-3326E0E74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37732"/>
            <a:ext cx="15240000" cy="721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81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6A53F-9A52-454B-4FE1-9CF04CDF7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35B343-621A-3880-5B62-6875F2BE5318}"/>
              </a:ext>
            </a:extLst>
          </p:cNvPr>
          <p:cNvSpPr txBox="1"/>
          <p:nvPr/>
        </p:nvSpPr>
        <p:spPr>
          <a:xfrm>
            <a:off x="355600" y="228600"/>
            <a:ext cx="24922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</a:rPr>
              <a:t>Result: </a:t>
            </a:r>
            <a:endParaRPr lang="en-IN" sz="6000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1A6137-7770-13BB-ADE3-4975BEC17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524000"/>
            <a:ext cx="15240000" cy="646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036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09CBD-9157-A0F0-208F-15F5D20CE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B5768-071A-313C-154F-8EB152DC90DE}"/>
              </a:ext>
            </a:extLst>
          </p:cNvPr>
          <p:cNvSpPr txBox="1"/>
          <p:nvPr/>
        </p:nvSpPr>
        <p:spPr>
          <a:xfrm>
            <a:off x="355600" y="228600"/>
            <a:ext cx="24922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</a:rPr>
              <a:t>Result: </a:t>
            </a:r>
            <a:endParaRPr lang="en-IN" sz="6000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607791-3CBF-3C39-6611-AD59DACFF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233377"/>
            <a:ext cx="15240000" cy="721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82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5DDA0E-BBC9-97E1-2577-7979A8282F3F}"/>
              </a:ext>
            </a:extLst>
          </p:cNvPr>
          <p:cNvSpPr/>
          <p:nvPr/>
        </p:nvSpPr>
        <p:spPr>
          <a:xfrm>
            <a:off x="14986000" y="8839200"/>
            <a:ext cx="1270000" cy="266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B573709-2934-CAEE-61B5-5BBEC5561437}"/>
              </a:ext>
            </a:extLst>
          </p:cNvPr>
          <p:cNvSpPr/>
          <p:nvPr/>
        </p:nvSpPr>
        <p:spPr>
          <a:xfrm>
            <a:off x="14986000" y="8839200"/>
            <a:ext cx="1270000" cy="266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A760C8-7B25-BC3D-EADF-A81848352CD5}"/>
              </a:ext>
            </a:extLst>
          </p:cNvPr>
          <p:cNvSpPr/>
          <p:nvPr/>
        </p:nvSpPr>
        <p:spPr>
          <a:xfrm>
            <a:off x="14986000" y="8839200"/>
            <a:ext cx="1270000" cy="266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819CC66-E5D4-BF48-F0B7-C5C2A84308CA}"/>
              </a:ext>
            </a:extLst>
          </p:cNvPr>
          <p:cNvSpPr/>
          <p:nvPr/>
        </p:nvSpPr>
        <p:spPr>
          <a:xfrm>
            <a:off x="14986000" y="8839200"/>
            <a:ext cx="1270000" cy="266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A0DDD02-61C0-6104-45C4-D39CBF9FFFE2}"/>
              </a:ext>
            </a:extLst>
          </p:cNvPr>
          <p:cNvSpPr/>
          <p:nvPr/>
        </p:nvSpPr>
        <p:spPr>
          <a:xfrm>
            <a:off x="14986000" y="8839200"/>
            <a:ext cx="1270000" cy="266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E1F3A45-C658-B4F5-1950-5B2F608BB245}"/>
              </a:ext>
            </a:extLst>
          </p:cNvPr>
          <p:cNvSpPr/>
          <p:nvPr/>
        </p:nvSpPr>
        <p:spPr>
          <a:xfrm>
            <a:off x="14986000" y="8839200"/>
            <a:ext cx="1270000" cy="266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0F8CCC3-FFB9-6FBB-ED3D-4CCC2DCD2AEE}"/>
              </a:ext>
            </a:extLst>
          </p:cNvPr>
          <p:cNvSpPr/>
          <p:nvPr/>
        </p:nvSpPr>
        <p:spPr>
          <a:xfrm>
            <a:off x="14986000" y="8839200"/>
            <a:ext cx="1270000" cy="266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B2F7C1-F69D-0CB5-C9EB-EA834FBE2DF0}"/>
              </a:ext>
            </a:extLst>
          </p:cNvPr>
          <p:cNvSpPr txBox="1"/>
          <p:nvPr/>
        </p:nvSpPr>
        <p:spPr>
          <a:xfrm>
            <a:off x="127000" y="0"/>
            <a:ext cx="81250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Future Scope: </a:t>
            </a:r>
            <a:endParaRPr kumimoji="0" lang="en-IN" sz="6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43FC95-BCD7-EE84-C8BC-3EFC34090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452" y="882096"/>
            <a:ext cx="8125096" cy="737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9842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4FAEA-37E2-2926-2BCF-933D8233F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37ACE8-4A7A-2D64-3B65-95517080AF3B}"/>
              </a:ext>
            </a:extLst>
          </p:cNvPr>
          <p:cNvSpPr txBox="1"/>
          <p:nvPr/>
        </p:nvSpPr>
        <p:spPr>
          <a:xfrm>
            <a:off x="127000" y="0"/>
            <a:ext cx="81250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References</a:t>
            </a:r>
            <a:r>
              <a:rPr lang="en-US" sz="6000" dirty="0">
                <a:solidFill>
                  <a:srgbClr val="002060"/>
                </a:solidFill>
                <a:latin typeface="Calibri"/>
              </a:rPr>
              <a:t>: </a:t>
            </a:r>
            <a:endParaRPr kumimoji="0" lang="en-IN" sz="6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16EAC2-93DF-13AD-ADD4-1290E95002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867824"/>
              </p:ext>
            </p:extLst>
          </p:nvPr>
        </p:nvGraphicFramePr>
        <p:xfrm>
          <a:off x="431800" y="1015663"/>
          <a:ext cx="15087600" cy="78997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1828357365"/>
                    </a:ext>
                  </a:extLst>
                </a:gridCol>
                <a:gridCol w="7157251">
                  <a:extLst>
                    <a:ext uri="{9D8B030D-6E8A-4147-A177-3AD203B41FA5}">
                      <a16:colId xmlns:a16="http://schemas.microsoft.com/office/drawing/2014/main" val="4018825146"/>
                    </a:ext>
                  </a:extLst>
                </a:gridCol>
                <a:gridCol w="7396949">
                  <a:extLst>
                    <a:ext uri="{9D8B030D-6E8A-4147-A177-3AD203B41FA5}">
                      <a16:colId xmlns:a16="http://schemas.microsoft.com/office/drawing/2014/main" val="4183224583"/>
                    </a:ext>
                  </a:extLst>
                </a:gridCol>
              </a:tblGrid>
              <a:tr h="9382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#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Reference (APA 7th Edition)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Core Relevance to Project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61494984"/>
                  </a:ext>
                </a:extLst>
              </a:tr>
              <a:tr h="17157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Gal, Y., &amp; Ghahramani, Z. (2016).</a:t>
                      </a:r>
                      <a:r>
                        <a:rPr lang="en-US" sz="2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Dropout as a Bayesian approximation: Representing model uncertainty in deep learning. </a:t>
                      </a:r>
                      <a:r>
                        <a:rPr lang="en-US" sz="2000" b="0" i="1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Proceedings of the 33rd International Conference on Machine Learning</a:t>
                      </a:r>
                      <a:r>
                        <a:rPr lang="en-US" sz="2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, 1050–1059.</a:t>
                      </a:r>
                      <a:endParaRPr lang="en-US" sz="20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The mathematical foundation for the </a:t>
                      </a:r>
                      <a:r>
                        <a:rPr lang="en-US" sz="20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Monte-Carlo Dropout</a:t>
                      </a:r>
                      <a:r>
                        <a:rPr lang="en-US" sz="2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used in your </a:t>
                      </a:r>
                      <a:r>
                        <a:rPr lang="en-US" sz="16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PresenceHead</a:t>
                      </a:r>
                      <a:r>
                        <a:rPr lang="en-US" sz="2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to quantify diagnostic uncertainty.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56865986"/>
                  </a:ext>
                </a:extLst>
              </a:tr>
              <a:tr h="129163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Isensee, F., et al. (2019).</a:t>
                      </a:r>
                      <a:r>
                        <a:rPr lang="en-US" sz="2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Automated brain extraction of multisequence MRI using artificial neural networks. </a:t>
                      </a:r>
                      <a:r>
                        <a:rPr lang="en-US" sz="2000" b="0" i="1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Human Brain Mapping, 40</a:t>
                      </a:r>
                      <a:r>
                        <a:rPr lang="en-US" sz="2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(17), 4952–4964.</a:t>
                      </a:r>
                      <a:endParaRPr lang="en-US" sz="20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The primary reference for </a:t>
                      </a:r>
                      <a:r>
                        <a:rPr lang="en-US" sz="20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HD-BET</a:t>
                      </a:r>
                      <a:r>
                        <a:rPr lang="en-US" sz="2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, the gold-standard tool your system uses for medical-grade skull stripping.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37758876"/>
                  </a:ext>
                </a:extLst>
              </a:tr>
              <a:tr h="129163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Vaswani, A., et al. (2017).</a:t>
                      </a:r>
                      <a:r>
                        <a:rPr lang="en-US" sz="2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Attention is all you need. </a:t>
                      </a:r>
                      <a:r>
                        <a:rPr lang="en-US" sz="2000" b="0" i="1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Advances in Neural Information Processing Systems</a:t>
                      </a:r>
                      <a:r>
                        <a:rPr lang="en-US" sz="2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, 5998–6008.</a:t>
                      </a:r>
                      <a:endParaRPr lang="en-US" sz="20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Provides the </a:t>
                      </a:r>
                      <a:r>
                        <a:rPr lang="en-US" sz="20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Transformer Self-Attention</a:t>
                      </a:r>
                      <a:r>
                        <a:rPr lang="en-US" sz="2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logic implemented in your </a:t>
                      </a:r>
                      <a:r>
                        <a:rPr lang="en-US" sz="16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TransformerBottleneck3D</a:t>
                      </a:r>
                      <a:r>
                        <a:rPr lang="en-US" sz="2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for global anatomical context.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35958913"/>
                  </a:ext>
                </a:extLst>
              </a:tr>
              <a:tr h="129163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Ronneberger, O., Fischer, P., &amp; Brox, T. (2015).</a:t>
                      </a:r>
                      <a:r>
                        <a:rPr lang="en-IN" sz="2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U-Net: Convolutional networks for biomedical image segmentation. </a:t>
                      </a:r>
                      <a:r>
                        <a:rPr lang="en-IN" sz="2000" b="0" i="1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MICCAI 2015</a:t>
                      </a:r>
                      <a:r>
                        <a:rPr lang="en-IN" sz="2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, 234–241.</a:t>
                      </a:r>
                      <a:endParaRPr lang="en-IN" sz="20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The foundational architecture for your </a:t>
                      </a:r>
                      <a:r>
                        <a:rPr lang="en-US" sz="2000" b="1" i="0" u="none" strike="noStrike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SegmentationDecoder</a:t>
                      </a:r>
                      <a:r>
                        <a:rPr lang="en-US" sz="2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, which identifies tumor and stroke boundaries.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51936029"/>
                  </a:ext>
                </a:extLst>
              </a:tr>
              <a:tr h="13708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Hu, J., Shen, L., &amp; Sun, G. (2018).</a:t>
                      </a:r>
                      <a:r>
                        <a:rPr lang="en-US" sz="2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Squeeze-and-excitation networks. </a:t>
                      </a:r>
                      <a:r>
                        <a:rPr lang="en-US" sz="2000" b="0" i="1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Proceedings of the IEEE Conference on Computer Vision and Pattern Recognition</a:t>
                      </a:r>
                      <a:r>
                        <a:rPr lang="en-US" sz="20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, 7132–7141.</a:t>
                      </a:r>
                      <a:endParaRPr lang="en-US" sz="20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Basis for the </a:t>
                      </a:r>
                      <a:r>
                        <a:rPr lang="en-US" sz="2000" b="1" i="0" u="none" strike="noStrike" dirty="0" err="1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SEBlock</a:t>
                      </a:r>
                      <a:r>
                        <a:rPr lang="en-US" sz="2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in your </a:t>
                      </a:r>
                      <a:r>
                        <a:rPr lang="en-US" sz="1600" b="0" i="0" u="none" strike="noStrike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AlzheimerEncoder</a:t>
                      </a:r>
                      <a:r>
                        <a:rPr lang="en-US" sz="20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that helps focus the model on relevant channel features.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70386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62545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77B91-087C-B318-D7C5-37F7EF08A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EE425-898D-73FA-C124-47CFA2C2BC02}"/>
              </a:ext>
            </a:extLst>
          </p:cNvPr>
          <p:cNvSpPr txBox="1"/>
          <p:nvPr/>
        </p:nvSpPr>
        <p:spPr>
          <a:xfrm>
            <a:off x="127000" y="0"/>
            <a:ext cx="81250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References</a:t>
            </a:r>
            <a:r>
              <a:rPr lang="en-US" sz="6000" dirty="0">
                <a:solidFill>
                  <a:srgbClr val="002060"/>
                </a:solidFill>
                <a:latin typeface="Calibri"/>
              </a:rPr>
              <a:t>: </a:t>
            </a:r>
            <a:endParaRPr kumimoji="0" lang="en-IN" sz="6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E434E5-7C68-2774-602F-A6D1DBB0B9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568848"/>
              </p:ext>
            </p:extLst>
          </p:nvPr>
        </p:nvGraphicFramePr>
        <p:xfrm>
          <a:off x="431800" y="1015663"/>
          <a:ext cx="15087600" cy="80787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1828357365"/>
                    </a:ext>
                  </a:extLst>
                </a:gridCol>
                <a:gridCol w="7157251">
                  <a:extLst>
                    <a:ext uri="{9D8B030D-6E8A-4147-A177-3AD203B41FA5}">
                      <a16:colId xmlns:a16="http://schemas.microsoft.com/office/drawing/2014/main" val="4018825146"/>
                    </a:ext>
                  </a:extLst>
                </a:gridCol>
                <a:gridCol w="7396949">
                  <a:extLst>
                    <a:ext uri="{9D8B030D-6E8A-4147-A177-3AD203B41FA5}">
                      <a16:colId xmlns:a16="http://schemas.microsoft.com/office/drawing/2014/main" val="4183224583"/>
                    </a:ext>
                  </a:extLst>
                </a:gridCol>
              </a:tblGrid>
              <a:tr h="9382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#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Reference (APA 7th Edition)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Core Relevance to Project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61494984"/>
                  </a:ext>
                </a:extLst>
              </a:tr>
              <a:tr h="17157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Guo, C., et al. (2017).</a:t>
                      </a:r>
                      <a:r>
                        <a:rPr 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On calibration of modern neural networks. </a:t>
                      </a:r>
                      <a:r>
                        <a:rPr lang="en-US" sz="2400" b="0" i="1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Proceedings of the 34th International Conference on Machine Learning</a:t>
                      </a:r>
                      <a:r>
                        <a:rPr 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, 1321–1330.</a:t>
                      </a:r>
                      <a:endParaRPr lang="en-US" sz="24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Justifies the use of </a:t>
                      </a:r>
                      <a:r>
                        <a:rPr 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Calibration Curves</a:t>
                      </a: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to ensure your model's confidence scores match clinical reality.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56865986"/>
                  </a:ext>
                </a:extLst>
              </a:tr>
              <a:tr h="129163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Sechidis, K., Tsoumakas, G., &amp; Vlahavas, I. (2011).</a:t>
                      </a: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On the stratification of multi-label data. </a:t>
                      </a:r>
                      <a:r>
                        <a:rPr lang="en-US" sz="2400" b="0" i="1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Machine Learning and Knowledge Discovery in Databases</a:t>
                      </a: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, 145–158.</a:t>
                      </a:r>
                      <a:endParaRPr lang="en-US" sz="24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Supports the </a:t>
                      </a:r>
                      <a:r>
                        <a:rPr 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Multi-Label</a:t>
                      </a: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approach where one patient can be diagnosed with multiple diseases simultaneously.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37758876"/>
                  </a:ext>
                </a:extLst>
              </a:tr>
              <a:tr h="129163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Vickers, A. J., &amp; Elkin, E. B. (2006).</a:t>
                      </a: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Decision curve analysis: A novel method for evaluating prediction models. </a:t>
                      </a:r>
                      <a:r>
                        <a:rPr lang="en-US" sz="2400" b="0" i="1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Medical Decision Making, 26</a:t>
                      </a: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(6), 565–574.</a:t>
                      </a:r>
                      <a:endParaRPr lang="en-US" sz="24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The standard for the </a:t>
                      </a:r>
                      <a:r>
                        <a:rPr 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Decision Curve Analysis</a:t>
                      </a: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found in your </a:t>
                      </a:r>
                      <a:r>
                        <a:rPr lang="en-US" sz="1800" b="0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statistical_rigor.py</a:t>
                      </a: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evaluation module.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35958913"/>
                  </a:ext>
                </a:extLst>
              </a:tr>
              <a:tr h="129163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Varma, S., &amp; Simon, R. (2006).</a:t>
                      </a: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Bias in error estimation when using cross-validation for model selection. </a:t>
                      </a:r>
                      <a:r>
                        <a:rPr lang="en-US" sz="2400" b="0" i="1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BMC Bioinformatics, 7</a:t>
                      </a: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(1), 1–8.</a:t>
                      </a:r>
                      <a:endParaRPr lang="en-US" sz="24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Provides the methodology for the </a:t>
                      </a:r>
                      <a:r>
                        <a:rPr 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Nested Cross-Validation (5x2)</a:t>
                      </a: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used to validate your model's performance.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51936029"/>
                  </a:ext>
                </a:extLst>
              </a:tr>
              <a:tr h="13708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Lin, T. Y., et al. (2017).</a:t>
                      </a: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Focal loss for dense object detection. </a:t>
                      </a:r>
                      <a:r>
                        <a:rPr lang="en-US" sz="2400" b="0" i="1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Proceedings of the IEEE International Conference on Computer Vision</a:t>
                      </a:r>
                      <a:r>
                        <a:rPr lang="en-US" sz="2400" b="0" i="0" u="none" strike="noStrike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, 2980–2988.</a:t>
                      </a:r>
                      <a:endParaRPr lang="en-US" sz="24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Supports the loss optimization strategies used to handle the </a:t>
                      </a:r>
                      <a:r>
                        <a:rPr lang="en-US" sz="2400" b="1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class imbalance</a:t>
                      </a:r>
                      <a:r>
                        <a:rPr lang="en-US" sz="2400" b="0" i="0" u="none" strike="noStrike" dirty="0">
                          <a:solidFill>
                            <a:srgbClr val="1F1F1F"/>
                          </a:solidFill>
                          <a:effectLst/>
                          <a:latin typeface="Arial" panose="020B0604020202020204" pitchFamily="34" charset="0"/>
                        </a:rPr>
                        <a:t> of small brain lesions.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70386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276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689</Words>
  <Application>Microsoft Office PowerPoint</Application>
  <PresentationFormat>Custom</PresentationFormat>
  <Paragraphs>64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sai varhith</dc:creator>
  <cp:lastModifiedBy>sai varhith</cp:lastModifiedBy>
  <cp:revision>6</cp:revision>
  <dcterms:created xsi:type="dcterms:W3CDTF">2006-08-16T00:00:00Z</dcterms:created>
  <dcterms:modified xsi:type="dcterms:W3CDTF">2026-03-24T06:38:04Z</dcterms:modified>
</cp:coreProperties>
</file>